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A2F4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24333B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A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DSES</a:t>
            </a:r>
            <a:r>
              <a:rPr dirty="0" spc="-15"/>
              <a:t> </a:t>
            </a:r>
            <a:r>
              <a:rPr dirty="0"/>
              <a:t>Spectrum</a:t>
            </a:r>
            <a:r>
              <a:rPr dirty="0" spc="-5"/>
              <a:t> </a:t>
            </a:r>
            <a:r>
              <a:rPr dirty="0"/>
              <a:t>Analyzer</a:t>
            </a:r>
            <a:r>
              <a:rPr dirty="0" spc="-5"/>
              <a:t> </a:t>
            </a:r>
            <a:r>
              <a:rPr dirty="0"/>
              <a:t>—</a:t>
            </a:r>
            <a:r>
              <a:rPr dirty="0" spc="-10"/>
              <a:t> gpstime.com/sw_distribution/b210_sa </a:t>
            </a:r>
            <a:r>
              <a:rPr dirty="0"/>
              <a:t>(free,</a:t>
            </a:r>
            <a:r>
              <a:rPr dirty="0" spc="-5"/>
              <a:t> </a:t>
            </a:r>
            <a:r>
              <a:rPr dirty="0"/>
              <a:t>GPL)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Richard</a:t>
            </a:r>
            <a:r>
              <a:rPr dirty="0" spc="-10"/>
              <a:t> </a:t>
            </a:r>
            <a:r>
              <a:rPr dirty="0"/>
              <a:t>Hambly</a:t>
            </a:r>
            <a:r>
              <a:rPr dirty="0" spc="-5"/>
              <a:t> </a:t>
            </a:r>
            <a:r>
              <a:rPr dirty="0"/>
              <a:t>K0GD</a:t>
            </a:r>
            <a:r>
              <a:rPr dirty="0" spc="-1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SARA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Radio</a:t>
            </a:r>
            <a:r>
              <a:rPr dirty="0" spc="-10"/>
              <a:t> </a:t>
            </a:r>
            <a:r>
              <a:rPr dirty="0"/>
              <a:t>Jove</a:t>
            </a:r>
            <a:r>
              <a:rPr dirty="0" spc="-5"/>
              <a:t> </a:t>
            </a:r>
            <a:r>
              <a:rPr dirty="0"/>
              <a:t>Eastern</a:t>
            </a:r>
            <a:r>
              <a:rPr dirty="0" spc="-10"/>
              <a:t> </a:t>
            </a:r>
            <a:r>
              <a:rPr dirty="0"/>
              <a:t>Conference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A2F4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24333B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A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DSES</a:t>
            </a:r>
            <a:r>
              <a:rPr dirty="0" spc="-15"/>
              <a:t> </a:t>
            </a:r>
            <a:r>
              <a:rPr dirty="0"/>
              <a:t>Spectrum</a:t>
            </a:r>
            <a:r>
              <a:rPr dirty="0" spc="-5"/>
              <a:t> </a:t>
            </a:r>
            <a:r>
              <a:rPr dirty="0"/>
              <a:t>Analyzer</a:t>
            </a:r>
            <a:r>
              <a:rPr dirty="0" spc="-5"/>
              <a:t> </a:t>
            </a:r>
            <a:r>
              <a:rPr dirty="0"/>
              <a:t>—</a:t>
            </a:r>
            <a:r>
              <a:rPr dirty="0" spc="-10"/>
              <a:t> gpstime.com/sw_distribution/b210_sa </a:t>
            </a:r>
            <a:r>
              <a:rPr dirty="0"/>
              <a:t>(free,</a:t>
            </a:r>
            <a:r>
              <a:rPr dirty="0" spc="-5"/>
              <a:t> </a:t>
            </a:r>
            <a:r>
              <a:rPr dirty="0"/>
              <a:t>GPL)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Richard</a:t>
            </a:r>
            <a:r>
              <a:rPr dirty="0" spc="-10"/>
              <a:t> </a:t>
            </a:r>
            <a:r>
              <a:rPr dirty="0"/>
              <a:t>Hambly</a:t>
            </a:r>
            <a:r>
              <a:rPr dirty="0" spc="-5"/>
              <a:t> </a:t>
            </a:r>
            <a:r>
              <a:rPr dirty="0"/>
              <a:t>K0GD</a:t>
            </a:r>
            <a:r>
              <a:rPr dirty="0" spc="-1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SARA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Radio</a:t>
            </a:r>
            <a:r>
              <a:rPr dirty="0" spc="-10"/>
              <a:t> </a:t>
            </a:r>
            <a:r>
              <a:rPr dirty="0"/>
              <a:t>Jove</a:t>
            </a:r>
            <a:r>
              <a:rPr dirty="0" spc="-5"/>
              <a:t> </a:t>
            </a:r>
            <a:r>
              <a:rPr dirty="0"/>
              <a:t>Eastern</a:t>
            </a:r>
            <a:r>
              <a:rPr dirty="0" spc="-10"/>
              <a:t> </a:t>
            </a:r>
            <a:r>
              <a:rPr dirty="0"/>
              <a:t>Conference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A2F4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A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DSES</a:t>
            </a:r>
            <a:r>
              <a:rPr dirty="0" spc="-15"/>
              <a:t> </a:t>
            </a:r>
            <a:r>
              <a:rPr dirty="0"/>
              <a:t>Spectrum</a:t>
            </a:r>
            <a:r>
              <a:rPr dirty="0" spc="-5"/>
              <a:t> </a:t>
            </a:r>
            <a:r>
              <a:rPr dirty="0"/>
              <a:t>Analyzer</a:t>
            </a:r>
            <a:r>
              <a:rPr dirty="0" spc="-5"/>
              <a:t> </a:t>
            </a:r>
            <a:r>
              <a:rPr dirty="0"/>
              <a:t>—</a:t>
            </a:r>
            <a:r>
              <a:rPr dirty="0" spc="-10"/>
              <a:t> gpstime.com/sw_distribution/b210_sa </a:t>
            </a:r>
            <a:r>
              <a:rPr dirty="0"/>
              <a:t>(free,</a:t>
            </a:r>
            <a:r>
              <a:rPr dirty="0" spc="-5"/>
              <a:t> </a:t>
            </a:r>
            <a:r>
              <a:rPr dirty="0"/>
              <a:t>GPL)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Richard</a:t>
            </a:r>
            <a:r>
              <a:rPr dirty="0" spc="-10"/>
              <a:t> </a:t>
            </a:r>
            <a:r>
              <a:rPr dirty="0"/>
              <a:t>Hambly</a:t>
            </a:r>
            <a:r>
              <a:rPr dirty="0" spc="-5"/>
              <a:t> </a:t>
            </a:r>
            <a:r>
              <a:rPr dirty="0"/>
              <a:t>K0GD</a:t>
            </a:r>
            <a:r>
              <a:rPr dirty="0" spc="-1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SARA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Radio</a:t>
            </a:r>
            <a:r>
              <a:rPr dirty="0" spc="-10"/>
              <a:t> </a:t>
            </a:r>
            <a:r>
              <a:rPr dirty="0"/>
              <a:t>Jove</a:t>
            </a:r>
            <a:r>
              <a:rPr dirty="0" spc="-5"/>
              <a:t> </a:t>
            </a:r>
            <a:r>
              <a:rPr dirty="0"/>
              <a:t>Eastern</a:t>
            </a:r>
            <a:r>
              <a:rPr dirty="0" spc="-10"/>
              <a:t> </a:t>
            </a:r>
            <a:r>
              <a:rPr dirty="0"/>
              <a:t>Conference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A2F4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A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DSES</a:t>
            </a:r>
            <a:r>
              <a:rPr dirty="0" spc="-15"/>
              <a:t> </a:t>
            </a:r>
            <a:r>
              <a:rPr dirty="0"/>
              <a:t>Spectrum</a:t>
            </a:r>
            <a:r>
              <a:rPr dirty="0" spc="-5"/>
              <a:t> </a:t>
            </a:r>
            <a:r>
              <a:rPr dirty="0"/>
              <a:t>Analyzer</a:t>
            </a:r>
            <a:r>
              <a:rPr dirty="0" spc="-5"/>
              <a:t> </a:t>
            </a:r>
            <a:r>
              <a:rPr dirty="0"/>
              <a:t>—</a:t>
            </a:r>
            <a:r>
              <a:rPr dirty="0" spc="-10"/>
              <a:t> gpstime.com/sw_distribution/b210_sa </a:t>
            </a:r>
            <a:r>
              <a:rPr dirty="0"/>
              <a:t>(free,</a:t>
            </a:r>
            <a:r>
              <a:rPr dirty="0" spc="-5"/>
              <a:t> </a:t>
            </a:r>
            <a:r>
              <a:rPr dirty="0"/>
              <a:t>GPL)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Richard</a:t>
            </a:r>
            <a:r>
              <a:rPr dirty="0" spc="-10"/>
              <a:t> </a:t>
            </a:r>
            <a:r>
              <a:rPr dirty="0"/>
              <a:t>Hambly</a:t>
            </a:r>
            <a:r>
              <a:rPr dirty="0" spc="-5"/>
              <a:t> </a:t>
            </a:r>
            <a:r>
              <a:rPr dirty="0"/>
              <a:t>K0GD</a:t>
            </a:r>
            <a:r>
              <a:rPr dirty="0" spc="-1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SARA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Radio</a:t>
            </a:r>
            <a:r>
              <a:rPr dirty="0" spc="-10"/>
              <a:t> </a:t>
            </a:r>
            <a:r>
              <a:rPr dirty="0"/>
              <a:t>Jove</a:t>
            </a:r>
            <a:r>
              <a:rPr dirty="0" spc="-5"/>
              <a:t> </a:t>
            </a:r>
            <a:r>
              <a:rPr dirty="0"/>
              <a:t>Eastern</a:t>
            </a:r>
            <a:r>
              <a:rPr dirty="0" spc="-10"/>
              <a:t> </a:t>
            </a:r>
            <a:r>
              <a:rPr dirty="0"/>
              <a:t>Conference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A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DSES</a:t>
            </a:r>
            <a:r>
              <a:rPr dirty="0" spc="-15"/>
              <a:t> </a:t>
            </a:r>
            <a:r>
              <a:rPr dirty="0"/>
              <a:t>Spectrum</a:t>
            </a:r>
            <a:r>
              <a:rPr dirty="0" spc="-5"/>
              <a:t> </a:t>
            </a:r>
            <a:r>
              <a:rPr dirty="0"/>
              <a:t>Analyzer</a:t>
            </a:r>
            <a:r>
              <a:rPr dirty="0" spc="-5"/>
              <a:t> </a:t>
            </a:r>
            <a:r>
              <a:rPr dirty="0"/>
              <a:t>—</a:t>
            </a:r>
            <a:r>
              <a:rPr dirty="0" spc="-10"/>
              <a:t> gpstime.com/sw_distribution/b210_sa </a:t>
            </a:r>
            <a:r>
              <a:rPr dirty="0"/>
              <a:t>(free,</a:t>
            </a:r>
            <a:r>
              <a:rPr dirty="0" spc="-5"/>
              <a:t> </a:t>
            </a:r>
            <a:r>
              <a:rPr dirty="0"/>
              <a:t>GPL)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Richard</a:t>
            </a:r>
            <a:r>
              <a:rPr dirty="0" spc="-10"/>
              <a:t> </a:t>
            </a:r>
            <a:r>
              <a:rPr dirty="0"/>
              <a:t>Hambly</a:t>
            </a:r>
            <a:r>
              <a:rPr dirty="0" spc="-5"/>
              <a:t> </a:t>
            </a:r>
            <a:r>
              <a:rPr dirty="0"/>
              <a:t>K0GD</a:t>
            </a:r>
            <a:r>
              <a:rPr dirty="0" spc="-1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SARA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Radio</a:t>
            </a:r>
            <a:r>
              <a:rPr dirty="0" spc="-10"/>
              <a:t> </a:t>
            </a:r>
            <a:r>
              <a:rPr dirty="0"/>
              <a:t>Jove</a:t>
            </a:r>
            <a:r>
              <a:rPr dirty="0" spc="-5"/>
              <a:t> </a:t>
            </a:r>
            <a:r>
              <a:rPr dirty="0"/>
              <a:t>Eastern</a:t>
            </a:r>
            <a:r>
              <a:rPr dirty="0" spc="-10"/>
              <a:t> </a:t>
            </a:r>
            <a:r>
              <a:rPr dirty="0"/>
              <a:t>Conference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02919" y="1261872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 h="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15240">
            <a:solidFill>
              <a:srgbClr val="155F8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637889"/>
            <a:ext cx="8474075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A2F4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2531681"/>
            <a:ext cx="8293734" cy="1868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24333B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0219" y="6419095"/>
            <a:ext cx="702246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6A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DSES</a:t>
            </a:r>
            <a:r>
              <a:rPr dirty="0" spc="-15"/>
              <a:t> </a:t>
            </a:r>
            <a:r>
              <a:rPr dirty="0"/>
              <a:t>Spectrum</a:t>
            </a:r>
            <a:r>
              <a:rPr dirty="0" spc="-5"/>
              <a:t> </a:t>
            </a:r>
            <a:r>
              <a:rPr dirty="0"/>
              <a:t>Analyzer</a:t>
            </a:r>
            <a:r>
              <a:rPr dirty="0" spc="-5"/>
              <a:t> </a:t>
            </a:r>
            <a:r>
              <a:rPr dirty="0"/>
              <a:t>—</a:t>
            </a:r>
            <a:r>
              <a:rPr dirty="0" spc="-10"/>
              <a:t> gpstime.com/sw_distribution/b210_sa </a:t>
            </a:r>
            <a:r>
              <a:rPr dirty="0"/>
              <a:t>(free,</a:t>
            </a:r>
            <a:r>
              <a:rPr dirty="0" spc="-5"/>
              <a:t> </a:t>
            </a:r>
            <a:r>
              <a:rPr dirty="0"/>
              <a:t>GPL)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Richard</a:t>
            </a:r>
            <a:r>
              <a:rPr dirty="0" spc="-10"/>
              <a:t> </a:t>
            </a:r>
            <a:r>
              <a:rPr dirty="0"/>
              <a:t>Hambly</a:t>
            </a:r>
            <a:r>
              <a:rPr dirty="0" spc="-5"/>
              <a:t> </a:t>
            </a:r>
            <a:r>
              <a:rPr dirty="0"/>
              <a:t>K0GD</a:t>
            </a:r>
            <a:r>
              <a:rPr dirty="0" spc="-1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SARA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Radio</a:t>
            </a:r>
            <a:r>
              <a:rPr dirty="0" spc="-10"/>
              <a:t> </a:t>
            </a:r>
            <a:r>
              <a:rPr dirty="0"/>
              <a:t>Jove</a:t>
            </a:r>
            <a:r>
              <a:rPr dirty="0" spc="-5"/>
              <a:t> </a:t>
            </a:r>
            <a:r>
              <a:rPr dirty="0"/>
              <a:t>Eastern</a:t>
            </a:r>
            <a:r>
              <a:rPr dirty="0" spc="-10"/>
              <a:t> </a:t>
            </a:r>
            <a:r>
              <a:rPr dirty="0"/>
              <a:t>Conference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28088"/>
            <a:ext cx="42506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55F82"/>
                </a:solidFill>
                <a:latin typeface="Calibri"/>
                <a:cs typeface="Calibri"/>
              </a:rPr>
              <a:t>ADDENDUM</a:t>
            </a:r>
            <a:r>
              <a:rPr dirty="0" sz="1100" spc="-25" b="1">
                <a:solidFill>
                  <a:srgbClr val="155F8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55F82"/>
                </a:solidFill>
                <a:latin typeface="Calibri"/>
                <a:cs typeface="Calibri"/>
              </a:rPr>
              <a:t>—</a:t>
            </a:r>
            <a:r>
              <a:rPr dirty="0" sz="1100" spc="-25" b="1">
                <a:solidFill>
                  <a:srgbClr val="155F82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55F82"/>
                </a:solidFill>
                <a:latin typeface="Calibri"/>
                <a:cs typeface="Calibri"/>
              </a:rPr>
              <a:t>SHIPPED</a:t>
            </a:r>
            <a:r>
              <a:rPr dirty="0" sz="1100" spc="-20" b="1">
                <a:solidFill>
                  <a:srgbClr val="155F8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55F82"/>
                </a:solidFill>
                <a:latin typeface="Calibri"/>
                <a:cs typeface="Calibri"/>
              </a:rPr>
              <a:t>SINCE</a:t>
            </a:r>
            <a:r>
              <a:rPr dirty="0" sz="1100" spc="-20" b="1">
                <a:solidFill>
                  <a:srgbClr val="155F8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55F82"/>
                </a:solidFill>
                <a:latin typeface="Calibri"/>
                <a:cs typeface="Calibri"/>
              </a:rPr>
              <a:t>THESE</a:t>
            </a:r>
            <a:r>
              <a:rPr dirty="0" sz="1100" spc="-15" b="1">
                <a:solidFill>
                  <a:srgbClr val="155F8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55F82"/>
                </a:solidFill>
                <a:latin typeface="Calibri"/>
                <a:cs typeface="Calibri"/>
              </a:rPr>
              <a:t>SLIDES</a:t>
            </a:r>
            <a:r>
              <a:rPr dirty="0" sz="1100" spc="-20" b="1">
                <a:solidFill>
                  <a:srgbClr val="155F8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55F82"/>
                </a:solidFill>
                <a:latin typeface="Calibri"/>
                <a:cs typeface="Calibri"/>
              </a:rPr>
              <a:t>WERE</a:t>
            </a:r>
            <a:r>
              <a:rPr dirty="0" sz="1100" spc="-20" b="1">
                <a:solidFill>
                  <a:srgbClr val="155F8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55F82"/>
                </a:solidFill>
                <a:latin typeface="Calibri"/>
                <a:cs typeface="Calibri"/>
              </a:rPr>
              <a:t>SUBMITTED</a:t>
            </a:r>
            <a:r>
              <a:rPr dirty="0" sz="1100" spc="-20" b="1">
                <a:solidFill>
                  <a:srgbClr val="155F82"/>
                </a:solidFill>
                <a:latin typeface="Calibri"/>
                <a:cs typeface="Calibri"/>
              </a:rPr>
              <a:t> (JULY </a:t>
            </a:r>
            <a:r>
              <a:rPr dirty="0" sz="1100" spc="-25" b="1">
                <a:solidFill>
                  <a:srgbClr val="155F82"/>
                </a:solidFill>
                <a:latin typeface="Calibri"/>
                <a:cs typeface="Calibri"/>
              </a:rPr>
              <a:t>19)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Three</a:t>
            </a:r>
            <a:r>
              <a:rPr dirty="0" spc="-5"/>
              <a:t> </a:t>
            </a:r>
            <a:r>
              <a:rPr dirty="0"/>
              <a:t>weeks</a:t>
            </a:r>
            <a:r>
              <a:rPr dirty="0" spc="-5"/>
              <a:t> </a:t>
            </a:r>
            <a:r>
              <a:rPr dirty="0"/>
              <a:t>later: the </a:t>
            </a:r>
            <a:r>
              <a:rPr dirty="0" spc="-10"/>
              <a:t>road-</a:t>
            </a:r>
            <a:r>
              <a:rPr dirty="0"/>
              <a:t>ahead</a:t>
            </a:r>
            <a:r>
              <a:rPr dirty="0" spc="-10"/>
              <a:t> </a:t>
            </a:r>
            <a:r>
              <a:rPr dirty="0"/>
              <a:t>list</a:t>
            </a:r>
            <a:r>
              <a:rPr dirty="0" spc="-5"/>
              <a:t> </a:t>
            </a:r>
            <a:r>
              <a:rPr dirty="0"/>
              <a:t>became a</a:t>
            </a:r>
            <a:r>
              <a:rPr dirty="0" spc="-5"/>
              <a:t> </a:t>
            </a:r>
            <a:r>
              <a:rPr dirty="0" spc="-10"/>
              <a:t>release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219" y="1555797"/>
            <a:ext cx="2459355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b="1">
                <a:solidFill>
                  <a:srgbClr val="155F82"/>
                </a:solidFill>
                <a:latin typeface="Cambria"/>
                <a:cs typeface="Cambria"/>
              </a:rPr>
              <a:t>v1.1.8</a:t>
            </a:r>
            <a:r>
              <a:rPr dirty="0" sz="1550" spc="-40" b="1">
                <a:solidFill>
                  <a:srgbClr val="155F82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155F82"/>
                </a:solidFill>
                <a:latin typeface="Cambria"/>
                <a:cs typeface="Cambria"/>
              </a:rPr>
              <a:t>—</a:t>
            </a:r>
            <a:r>
              <a:rPr dirty="0" sz="1550" spc="-35" b="1">
                <a:solidFill>
                  <a:srgbClr val="155F82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155F82"/>
                </a:solidFill>
                <a:latin typeface="Cambria"/>
                <a:cs typeface="Cambria"/>
              </a:rPr>
              <a:t>released</a:t>
            </a:r>
            <a:r>
              <a:rPr dirty="0" sz="1550" spc="-35" b="1">
                <a:solidFill>
                  <a:srgbClr val="155F82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155F82"/>
                </a:solidFill>
                <a:latin typeface="Cambria"/>
                <a:cs typeface="Cambria"/>
              </a:rPr>
              <a:t>August</a:t>
            </a:r>
            <a:r>
              <a:rPr dirty="0" sz="1550" spc="-40" b="1">
                <a:solidFill>
                  <a:srgbClr val="155F82"/>
                </a:solidFill>
                <a:latin typeface="Cambria"/>
                <a:cs typeface="Cambria"/>
              </a:rPr>
              <a:t> </a:t>
            </a:r>
            <a:r>
              <a:rPr dirty="0" sz="1550" spc="-50" b="1">
                <a:solidFill>
                  <a:srgbClr val="155F82"/>
                </a:solidFill>
                <a:latin typeface="Cambria"/>
                <a:cs typeface="Cambria"/>
              </a:rPr>
              <a:t>3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1968452"/>
            <a:ext cx="79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155F82"/>
                </a:solidFill>
                <a:latin typeface="Calibri"/>
                <a:cs typeface="Calibri"/>
              </a:rPr>
              <a:t>▪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1427" y="1888410"/>
            <a:ext cx="7607934" cy="563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1300"/>
              </a:lnSpc>
              <a:spcBef>
                <a:spcPts val="100"/>
              </a:spcBef>
            </a:pPr>
            <a:r>
              <a:rPr dirty="0" sz="1250" b="1">
                <a:solidFill>
                  <a:srgbClr val="24333B"/>
                </a:solidFill>
                <a:latin typeface="Calibri"/>
                <a:cs typeface="Calibri"/>
              </a:rPr>
              <a:t>Observation</a:t>
            </a:r>
            <a:r>
              <a:rPr dirty="0" sz="1250" spc="-25" b="1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24333B"/>
                </a:solidFill>
                <a:latin typeface="Calibri"/>
                <a:cs typeface="Calibri"/>
              </a:rPr>
              <a:t>presets:</a:t>
            </a:r>
            <a:r>
              <a:rPr dirty="0" sz="1250" spc="254" b="1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one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pick</a:t>
            </a:r>
            <a:r>
              <a:rPr dirty="0" sz="1250" spc="-2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—</a:t>
            </a:r>
            <a:r>
              <a:rPr dirty="0" sz="1250" spc="-2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“Pulsar: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4333B"/>
                </a:solidFill>
                <a:latin typeface="Calibri"/>
                <a:cs typeface="Calibri"/>
              </a:rPr>
              <a:t>L-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band”</a:t>
            </a:r>
            <a:r>
              <a:rPr dirty="0" sz="1250" spc="-3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—</a:t>
            </a:r>
            <a:r>
              <a:rPr dirty="0" sz="1250" spc="-2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sets</a:t>
            </a:r>
            <a:r>
              <a:rPr dirty="0" sz="1250" spc="-2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every</a:t>
            </a:r>
            <a:r>
              <a:rPr dirty="0" sz="1250" spc="-2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4333B"/>
                </a:solidFill>
                <a:latin typeface="Calibri"/>
                <a:cs typeface="Calibri"/>
              </a:rPr>
              <a:t>science-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critical</a:t>
            </a:r>
            <a:r>
              <a:rPr dirty="0" sz="1250" spc="-2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parameter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to</a:t>
            </a:r>
            <a:r>
              <a:rPr dirty="0" sz="1250" spc="-3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the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4333B"/>
                </a:solidFill>
                <a:latin typeface="Calibri"/>
                <a:cs typeface="Calibri"/>
              </a:rPr>
              <a:t>validated</a:t>
            </a:r>
            <a:r>
              <a:rPr dirty="0" sz="1250" spc="-2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4333B"/>
                </a:solidFill>
                <a:latin typeface="Calibri"/>
                <a:cs typeface="Calibri"/>
              </a:rPr>
              <a:t>geometry;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a</a:t>
            </a:r>
            <a:r>
              <a:rPr dirty="0" sz="1250" spc="-3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live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readout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shows</a:t>
            </a:r>
            <a:r>
              <a:rPr dirty="0" sz="1250" spc="-2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time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resolution,</a:t>
            </a:r>
            <a:r>
              <a:rPr dirty="0" sz="1250" spc="-2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DM</a:t>
            </a:r>
            <a:r>
              <a:rPr dirty="0" sz="1250" spc="-2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smearing,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disk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4333B"/>
                </a:solidFill>
                <a:latin typeface="Calibri"/>
                <a:cs typeface="Calibri"/>
              </a:rPr>
              <a:t>rate.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9079" marR="421005" indent="-247015">
              <a:lnSpc>
                <a:spcPct val="144400"/>
              </a:lnSpc>
              <a:spcBef>
                <a:spcPts val="100"/>
              </a:spcBef>
              <a:buClr>
                <a:srgbClr val="155F82"/>
              </a:buClr>
              <a:buSzPct val="96000"/>
              <a:buFont typeface="Calibri"/>
              <a:buChar char="▪"/>
              <a:tabLst>
                <a:tab pos="259079" algn="l"/>
              </a:tabLst>
            </a:pPr>
            <a:r>
              <a:rPr dirty="0" sz="1250" spc="-10" b="1">
                <a:latin typeface="Calibri"/>
                <a:cs typeface="Calibri"/>
              </a:rPr>
              <a:t>Recording</a:t>
            </a:r>
            <a:r>
              <a:rPr dirty="0" sz="1250" spc="-2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integrity:</a:t>
            </a:r>
            <a:r>
              <a:rPr dirty="0" sz="1250" spc="285" b="1">
                <a:latin typeface="Calibri"/>
                <a:cs typeface="Calibri"/>
              </a:rPr>
              <a:t> </a:t>
            </a:r>
            <a:r>
              <a:rPr dirty="0" sz="1250" spc="-10"/>
              <a:t>dropped-</a:t>
            </a:r>
            <a:r>
              <a:rPr dirty="0" sz="1250"/>
              <a:t>sample</a:t>
            </a:r>
            <a:r>
              <a:rPr dirty="0" sz="1250" spc="-20"/>
              <a:t> </a:t>
            </a:r>
            <a:r>
              <a:rPr dirty="0" sz="1250"/>
              <a:t>gaps</a:t>
            </a:r>
            <a:r>
              <a:rPr dirty="0" sz="1250" spc="-25"/>
              <a:t> </a:t>
            </a:r>
            <a:r>
              <a:rPr dirty="0" sz="1250" spc="-10"/>
              <a:t>measured</a:t>
            </a:r>
            <a:r>
              <a:rPr dirty="0" sz="1250" spc="-25"/>
              <a:t> </a:t>
            </a:r>
            <a:r>
              <a:rPr dirty="0" sz="1250"/>
              <a:t>from</a:t>
            </a:r>
            <a:r>
              <a:rPr dirty="0" sz="1250" spc="-20"/>
              <a:t> </a:t>
            </a:r>
            <a:r>
              <a:rPr dirty="0" sz="1250"/>
              <a:t>radio</a:t>
            </a:r>
            <a:r>
              <a:rPr dirty="0" sz="1250" spc="-25"/>
              <a:t> </a:t>
            </a:r>
            <a:r>
              <a:rPr dirty="0" sz="1250"/>
              <a:t>timestamps</a:t>
            </a:r>
            <a:r>
              <a:rPr dirty="0" sz="1250" spc="-25"/>
              <a:t> </a:t>
            </a:r>
            <a:r>
              <a:rPr dirty="0" sz="1250"/>
              <a:t>and</a:t>
            </a:r>
            <a:r>
              <a:rPr dirty="0" sz="1250" spc="-25"/>
              <a:t> </a:t>
            </a:r>
            <a:r>
              <a:rPr dirty="0" sz="1250" spc="-20"/>
              <a:t>zero-</a:t>
            </a:r>
            <a:r>
              <a:rPr dirty="0" sz="1250"/>
              <a:t>padded</a:t>
            </a:r>
            <a:r>
              <a:rPr dirty="0" sz="1250" spc="-25"/>
              <a:t> </a:t>
            </a:r>
            <a:r>
              <a:rPr dirty="0" sz="1250"/>
              <a:t>exactly,</a:t>
            </a:r>
            <a:r>
              <a:rPr dirty="0" sz="1250" spc="-20"/>
              <a:t> </a:t>
            </a:r>
            <a:r>
              <a:rPr dirty="0" sz="1250"/>
              <a:t>live</a:t>
            </a:r>
            <a:r>
              <a:rPr dirty="0" sz="1250" spc="-20"/>
              <a:t> </a:t>
            </a:r>
            <a:r>
              <a:rPr dirty="0" sz="1250"/>
              <a:t>—</a:t>
            </a:r>
            <a:r>
              <a:rPr dirty="0" sz="1250" spc="-25"/>
              <a:t> </a:t>
            </a:r>
            <a:r>
              <a:rPr dirty="0" sz="1250"/>
              <a:t>the</a:t>
            </a:r>
            <a:r>
              <a:rPr dirty="0" sz="1250" spc="-25"/>
              <a:t> 28σ </a:t>
            </a:r>
            <a:r>
              <a:rPr dirty="0" sz="1250" spc="-10"/>
              <a:t>gap-</a:t>
            </a:r>
            <a:r>
              <a:rPr dirty="0" sz="1250"/>
              <a:t>repair</a:t>
            </a:r>
            <a:r>
              <a:rPr dirty="0" sz="1250" spc="-15"/>
              <a:t> </a:t>
            </a:r>
            <a:r>
              <a:rPr dirty="0" sz="1250"/>
              <a:t>lesson,</a:t>
            </a:r>
            <a:r>
              <a:rPr dirty="0" sz="1250" spc="-15"/>
              <a:t> </a:t>
            </a:r>
            <a:r>
              <a:rPr dirty="0" sz="1250"/>
              <a:t>now</a:t>
            </a:r>
            <a:r>
              <a:rPr dirty="0" sz="1250" spc="-15"/>
              <a:t> </a:t>
            </a:r>
            <a:r>
              <a:rPr dirty="0" sz="1250"/>
              <a:t>automatic</a:t>
            </a:r>
            <a:r>
              <a:rPr dirty="0" sz="1250" spc="-10"/>
              <a:t> </a:t>
            </a:r>
            <a:r>
              <a:rPr dirty="0" sz="1250"/>
              <a:t>(verified:</a:t>
            </a:r>
            <a:r>
              <a:rPr dirty="0" sz="1250" spc="-15"/>
              <a:t> </a:t>
            </a:r>
            <a:r>
              <a:rPr dirty="0" sz="1250"/>
              <a:t>0</a:t>
            </a:r>
            <a:r>
              <a:rPr dirty="0" sz="1250" spc="-15"/>
              <a:t> </a:t>
            </a:r>
            <a:r>
              <a:rPr dirty="0" sz="1250" spc="-10"/>
              <a:t>samples</a:t>
            </a:r>
            <a:r>
              <a:rPr dirty="0" sz="1250" spc="-20"/>
              <a:t> </a:t>
            </a:r>
            <a:r>
              <a:rPr dirty="0" sz="1250"/>
              <a:t>lost</a:t>
            </a:r>
            <a:r>
              <a:rPr dirty="0" sz="1250" spc="-10"/>
              <a:t> </a:t>
            </a:r>
            <a:r>
              <a:rPr dirty="0" sz="1250"/>
              <a:t>at</a:t>
            </a:r>
            <a:r>
              <a:rPr dirty="0" sz="1250" spc="-15"/>
              <a:t> </a:t>
            </a:r>
            <a:r>
              <a:rPr dirty="0" sz="1250"/>
              <a:t>16</a:t>
            </a:r>
            <a:r>
              <a:rPr dirty="0" sz="1250" spc="-15"/>
              <a:t> </a:t>
            </a:r>
            <a:r>
              <a:rPr dirty="0" sz="1250" spc="-10"/>
              <a:t>MS/s).</a:t>
            </a:r>
            <a:endParaRPr sz="1250">
              <a:latin typeface="Calibri"/>
              <a:cs typeface="Calibri"/>
            </a:endParaRPr>
          </a:p>
          <a:p>
            <a:pPr marL="259079" marR="5080" indent="-247015">
              <a:lnSpc>
                <a:spcPct val="142300"/>
              </a:lnSpc>
              <a:spcBef>
                <a:spcPts val="810"/>
              </a:spcBef>
              <a:buClr>
                <a:srgbClr val="155F82"/>
              </a:buClr>
              <a:buSzPct val="96000"/>
              <a:buFont typeface="Calibri"/>
              <a:buChar char="▪"/>
              <a:tabLst>
                <a:tab pos="259079" algn="l"/>
              </a:tabLst>
            </a:pPr>
            <a:r>
              <a:rPr dirty="0" sz="1250" spc="-10" b="1">
                <a:latin typeface="Calibri"/>
                <a:cs typeface="Calibri"/>
              </a:rPr>
              <a:t>Automatic</a:t>
            </a:r>
            <a:r>
              <a:rPr dirty="0" sz="1250" spc="-30" b="1">
                <a:latin typeface="Calibri"/>
                <a:cs typeface="Calibri"/>
              </a:rPr>
              <a:t> </a:t>
            </a:r>
            <a:r>
              <a:rPr dirty="0" sz="1250" spc="-10" b="1">
                <a:latin typeface="Calibri"/>
                <a:cs typeface="Calibri"/>
              </a:rPr>
              <a:t>post-</a:t>
            </a:r>
            <a:r>
              <a:rPr dirty="0" sz="1250" b="1">
                <a:latin typeface="Calibri"/>
                <a:cs typeface="Calibri"/>
              </a:rPr>
              <a:t>processing:</a:t>
            </a:r>
            <a:r>
              <a:rPr dirty="0" sz="1250" spc="290" b="1">
                <a:latin typeface="Calibri"/>
                <a:cs typeface="Calibri"/>
              </a:rPr>
              <a:t> </a:t>
            </a:r>
            <a:r>
              <a:rPr dirty="0" sz="1250"/>
              <a:t>recording</a:t>
            </a:r>
            <a:r>
              <a:rPr dirty="0" sz="1250" spc="-20"/>
              <a:t> </a:t>
            </a:r>
            <a:r>
              <a:rPr dirty="0" sz="1250"/>
              <a:t>stops</a:t>
            </a:r>
            <a:r>
              <a:rPr dirty="0" sz="1250" spc="-30"/>
              <a:t> </a:t>
            </a:r>
            <a:r>
              <a:rPr dirty="0" sz="1250"/>
              <a:t>→</a:t>
            </a:r>
            <a:r>
              <a:rPr dirty="0" sz="1250" spc="-25"/>
              <a:t> </a:t>
            </a:r>
            <a:r>
              <a:rPr dirty="0" sz="1250" spc="-10"/>
              <a:t>PRESTO</a:t>
            </a:r>
            <a:r>
              <a:rPr dirty="0" sz="1250" spc="-25"/>
              <a:t> </a:t>
            </a:r>
            <a:r>
              <a:rPr dirty="0" sz="1250"/>
              <a:t>runs</a:t>
            </a:r>
            <a:r>
              <a:rPr dirty="0" sz="1250" spc="-30"/>
              <a:t> </a:t>
            </a:r>
            <a:r>
              <a:rPr dirty="0" sz="1250"/>
              <a:t>→</a:t>
            </a:r>
            <a:r>
              <a:rPr dirty="0" sz="1250" spc="-25"/>
              <a:t> </a:t>
            </a:r>
            <a:r>
              <a:rPr dirty="0" sz="1250"/>
              <a:t>a</a:t>
            </a:r>
            <a:r>
              <a:rPr dirty="0" sz="1250" spc="-30"/>
              <a:t> </a:t>
            </a:r>
            <a:r>
              <a:rPr dirty="0" sz="1250" spc="-10"/>
              <a:t>self-contained</a:t>
            </a:r>
            <a:r>
              <a:rPr dirty="0" sz="1250" spc="-25"/>
              <a:t> </a:t>
            </a:r>
            <a:r>
              <a:rPr dirty="0" sz="1250"/>
              <a:t>PDF:</a:t>
            </a:r>
            <a:r>
              <a:rPr dirty="0" sz="1250" spc="-25"/>
              <a:t> </a:t>
            </a:r>
            <a:r>
              <a:rPr dirty="0" sz="1250"/>
              <a:t>fold</a:t>
            </a:r>
            <a:r>
              <a:rPr dirty="0" sz="1250" spc="-25"/>
              <a:t> </a:t>
            </a:r>
            <a:r>
              <a:rPr dirty="0" sz="1250"/>
              <a:t>chart,</a:t>
            </a:r>
            <a:r>
              <a:rPr dirty="0" sz="1250" spc="-25"/>
              <a:t> </a:t>
            </a:r>
            <a:r>
              <a:rPr dirty="0" sz="1250"/>
              <a:t>commands,</a:t>
            </a:r>
            <a:r>
              <a:rPr dirty="0" sz="1250" spc="-20"/>
              <a:t> </a:t>
            </a:r>
            <a:r>
              <a:rPr dirty="0" sz="1250"/>
              <a:t>numbers,</a:t>
            </a:r>
            <a:r>
              <a:rPr dirty="0" sz="1250" spc="-25"/>
              <a:t> </a:t>
            </a:r>
            <a:r>
              <a:rPr dirty="0" sz="1250"/>
              <a:t>and</a:t>
            </a:r>
            <a:r>
              <a:rPr dirty="0" sz="1250" spc="-25"/>
              <a:t> </a:t>
            </a:r>
            <a:r>
              <a:rPr dirty="0" sz="1250" spc="-50"/>
              <a:t>a </a:t>
            </a:r>
            <a:r>
              <a:rPr dirty="0" sz="1250" spc="-10"/>
              <a:t>plain-</a:t>
            </a:r>
            <a:r>
              <a:rPr dirty="0" sz="1250"/>
              <a:t>language</a:t>
            </a:r>
            <a:r>
              <a:rPr dirty="0" sz="1250" spc="-25"/>
              <a:t> </a:t>
            </a:r>
            <a:r>
              <a:rPr dirty="0" sz="1250"/>
              <a:t>verdict</a:t>
            </a:r>
            <a:r>
              <a:rPr dirty="0" sz="1250" spc="-20"/>
              <a:t> </a:t>
            </a:r>
            <a:r>
              <a:rPr dirty="0" sz="1250"/>
              <a:t>(incl.</a:t>
            </a:r>
            <a:r>
              <a:rPr dirty="0" sz="1250" spc="-25"/>
              <a:t> </a:t>
            </a:r>
            <a:r>
              <a:rPr dirty="0" sz="1250"/>
              <a:t>“that’s</a:t>
            </a:r>
            <a:r>
              <a:rPr dirty="0" sz="1250" spc="-25"/>
              <a:t> </a:t>
            </a:r>
            <a:r>
              <a:rPr dirty="0" sz="1250"/>
              <a:t>terrestrial,</a:t>
            </a:r>
            <a:r>
              <a:rPr dirty="0" sz="1250" spc="-25"/>
              <a:t> </a:t>
            </a:r>
            <a:r>
              <a:rPr dirty="0" sz="1250"/>
              <a:t>not</a:t>
            </a:r>
            <a:r>
              <a:rPr dirty="0" sz="1250" spc="-20"/>
              <a:t> </a:t>
            </a:r>
            <a:r>
              <a:rPr dirty="0" sz="1250"/>
              <a:t>a</a:t>
            </a:r>
            <a:r>
              <a:rPr dirty="0" sz="1250" spc="-25"/>
              <a:t> </a:t>
            </a:r>
            <a:r>
              <a:rPr dirty="0" sz="1250" spc="-10"/>
              <a:t>pulsar”).</a:t>
            </a:r>
            <a:endParaRPr sz="1250">
              <a:latin typeface="Calibri"/>
              <a:cs typeface="Calibri"/>
            </a:endParaRPr>
          </a:p>
          <a:p>
            <a:pPr marL="259079" marR="560070" indent="-247015">
              <a:lnSpc>
                <a:spcPct val="141600"/>
              </a:lnSpc>
              <a:spcBef>
                <a:spcPts val="855"/>
              </a:spcBef>
              <a:buClr>
                <a:srgbClr val="155F82"/>
              </a:buClr>
              <a:buSzPct val="96000"/>
              <a:buFont typeface="Calibri"/>
              <a:buChar char="▪"/>
              <a:tabLst>
                <a:tab pos="259079" algn="l"/>
              </a:tabLst>
            </a:pPr>
            <a:r>
              <a:rPr dirty="0" sz="1250" b="1">
                <a:latin typeface="Calibri"/>
                <a:cs typeface="Calibri"/>
              </a:rPr>
              <a:t>ezRA</a:t>
            </a:r>
            <a:r>
              <a:rPr dirty="0" sz="1250" spc="-25" b="1">
                <a:latin typeface="Calibri"/>
                <a:cs typeface="Calibri"/>
              </a:rPr>
              <a:t> </a:t>
            </a:r>
            <a:r>
              <a:rPr dirty="0" sz="1250" spc="-10" b="1">
                <a:latin typeface="Calibri"/>
                <a:cs typeface="Calibri"/>
              </a:rPr>
              <a:t>drift-</a:t>
            </a:r>
            <a:r>
              <a:rPr dirty="0" sz="1250" b="1">
                <a:latin typeface="Calibri"/>
                <a:cs typeface="Calibri"/>
              </a:rPr>
              <a:t>scan</a:t>
            </a:r>
            <a:r>
              <a:rPr dirty="0" sz="1250" spc="-2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format:</a:t>
            </a:r>
            <a:r>
              <a:rPr dirty="0" sz="1250" spc="270" b="1">
                <a:latin typeface="Calibri"/>
                <a:cs typeface="Calibri"/>
              </a:rPr>
              <a:t> </a:t>
            </a:r>
            <a:r>
              <a:rPr dirty="0" sz="1250"/>
              <a:t>the</a:t>
            </a:r>
            <a:r>
              <a:rPr dirty="0" sz="1250" spc="-20"/>
              <a:t> </a:t>
            </a:r>
            <a:r>
              <a:rPr dirty="0" sz="1250"/>
              <a:t>same</a:t>
            </a:r>
            <a:r>
              <a:rPr dirty="0" sz="1250" spc="-25"/>
              <a:t> </a:t>
            </a:r>
            <a:r>
              <a:rPr dirty="0" sz="1250"/>
              <a:t>app</a:t>
            </a:r>
            <a:r>
              <a:rPr dirty="0" sz="1250" spc="-25"/>
              <a:t> </a:t>
            </a:r>
            <a:r>
              <a:rPr dirty="0" sz="1250"/>
              <a:t>writes</a:t>
            </a:r>
            <a:r>
              <a:rPr dirty="0" sz="1250" spc="-30"/>
              <a:t> </a:t>
            </a:r>
            <a:r>
              <a:rPr dirty="0" sz="1250" spc="-10"/>
              <a:t>ezCol-</a:t>
            </a:r>
            <a:r>
              <a:rPr dirty="0" sz="1250"/>
              <a:t>compatible</a:t>
            </a:r>
            <a:r>
              <a:rPr dirty="0" sz="1250" spc="-20"/>
              <a:t> </a:t>
            </a:r>
            <a:r>
              <a:rPr dirty="0" sz="1250"/>
              <a:t>files</a:t>
            </a:r>
            <a:r>
              <a:rPr dirty="0" sz="1250" spc="-30"/>
              <a:t> </a:t>
            </a:r>
            <a:r>
              <a:rPr dirty="0" sz="1250"/>
              <a:t>for</a:t>
            </a:r>
            <a:r>
              <a:rPr dirty="0" sz="1250" spc="-20"/>
              <a:t> </a:t>
            </a:r>
            <a:r>
              <a:rPr dirty="0" sz="1250"/>
              <a:t>Ted</a:t>
            </a:r>
            <a:r>
              <a:rPr dirty="0" sz="1250" spc="-30"/>
              <a:t> </a:t>
            </a:r>
            <a:r>
              <a:rPr dirty="0" sz="1250"/>
              <a:t>Cline’s</a:t>
            </a:r>
            <a:r>
              <a:rPr dirty="0" sz="1250" spc="-25"/>
              <a:t> </a:t>
            </a:r>
            <a:r>
              <a:rPr dirty="0" sz="1250"/>
              <a:t>ezRA</a:t>
            </a:r>
            <a:r>
              <a:rPr dirty="0" sz="1250" spc="-25"/>
              <a:t> </a:t>
            </a:r>
            <a:r>
              <a:rPr dirty="0" sz="1250"/>
              <a:t>suite</a:t>
            </a:r>
            <a:r>
              <a:rPr dirty="0" sz="1250" spc="-20"/>
              <a:t> </a:t>
            </a:r>
            <a:r>
              <a:rPr dirty="0" sz="1250"/>
              <a:t>—</a:t>
            </a:r>
            <a:r>
              <a:rPr dirty="0" sz="1250" spc="-30"/>
              <a:t> </a:t>
            </a:r>
            <a:r>
              <a:rPr dirty="0" sz="1250"/>
              <a:t>the</a:t>
            </a:r>
            <a:r>
              <a:rPr dirty="0" sz="1250" spc="-20"/>
              <a:t> </a:t>
            </a:r>
            <a:r>
              <a:rPr dirty="0" sz="1250"/>
              <a:t>DSES</a:t>
            </a:r>
            <a:r>
              <a:rPr dirty="0" sz="1250" spc="-25"/>
              <a:t> </a:t>
            </a:r>
            <a:r>
              <a:rPr dirty="0" sz="1250" spc="-10"/>
              <a:t>60-</a:t>
            </a:r>
            <a:r>
              <a:rPr dirty="0" sz="1250"/>
              <a:t>ft</a:t>
            </a:r>
            <a:r>
              <a:rPr dirty="0" sz="1250" spc="-25"/>
              <a:t> </a:t>
            </a:r>
            <a:r>
              <a:rPr dirty="0" sz="1250" spc="-20"/>
              <a:t>dish </a:t>
            </a:r>
            <a:r>
              <a:rPr dirty="0" sz="1250"/>
              <a:t>is</a:t>
            </a:r>
            <a:r>
              <a:rPr dirty="0" sz="1250" spc="-20"/>
              <a:t> </a:t>
            </a:r>
            <a:r>
              <a:rPr dirty="0" sz="1250"/>
              <a:t>doing</a:t>
            </a:r>
            <a:r>
              <a:rPr dirty="0" sz="1250" spc="-15"/>
              <a:t> </a:t>
            </a:r>
            <a:r>
              <a:rPr dirty="0" sz="1250" spc="-10"/>
              <a:t>hydrogen-</a:t>
            </a:r>
            <a:r>
              <a:rPr dirty="0" sz="1250"/>
              <a:t>line</a:t>
            </a:r>
            <a:r>
              <a:rPr dirty="0" sz="1250" spc="-15"/>
              <a:t> </a:t>
            </a:r>
            <a:r>
              <a:rPr dirty="0" sz="1250"/>
              <a:t>drift</a:t>
            </a:r>
            <a:r>
              <a:rPr dirty="0" sz="1250" spc="-15"/>
              <a:t> </a:t>
            </a:r>
            <a:r>
              <a:rPr dirty="0" sz="1250"/>
              <a:t>scans</a:t>
            </a:r>
            <a:r>
              <a:rPr dirty="0" sz="1250" spc="-20"/>
              <a:t> </a:t>
            </a:r>
            <a:r>
              <a:rPr dirty="0" sz="1250"/>
              <a:t>with</a:t>
            </a:r>
            <a:r>
              <a:rPr dirty="0" sz="1250" spc="-15"/>
              <a:t> </a:t>
            </a:r>
            <a:r>
              <a:rPr dirty="0" sz="1250"/>
              <a:t>it</a:t>
            </a:r>
            <a:r>
              <a:rPr dirty="0" sz="1250" spc="-15"/>
              <a:t> </a:t>
            </a:r>
            <a:r>
              <a:rPr dirty="0" sz="1250" spc="-10"/>
              <a:t>today.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540" y="4565348"/>
            <a:ext cx="79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155F82"/>
                </a:solidFill>
                <a:latin typeface="Calibri"/>
                <a:cs typeface="Calibri"/>
              </a:rPr>
              <a:t>▪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1427" y="4569317"/>
            <a:ext cx="602678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222" sz="1875" b="1">
                <a:solidFill>
                  <a:srgbClr val="24333B"/>
                </a:solidFill>
                <a:latin typeface="Calibri"/>
                <a:cs typeface="Calibri"/>
              </a:rPr>
              <a:t>True</a:t>
            </a:r>
            <a:r>
              <a:rPr dirty="0" baseline="2222" sz="1875" spc="-37" b="1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baseline="2222" sz="1875" spc="-15" b="1">
                <a:solidFill>
                  <a:srgbClr val="24333B"/>
                </a:solidFill>
                <a:latin typeface="Calibri"/>
                <a:cs typeface="Calibri"/>
              </a:rPr>
              <a:t>hardware</a:t>
            </a:r>
            <a:r>
              <a:rPr dirty="0" baseline="2222" sz="1875" spc="-37" b="1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baseline="2222" sz="1875" b="1">
                <a:solidFill>
                  <a:srgbClr val="24333B"/>
                </a:solidFill>
                <a:latin typeface="Calibri"/>
                <a:cs typeface="Calibri"/>
              </a:rPr>
              <a:t>sample</a:t>
            </a:r>
            <a:r>
              <a:rPr dirty="0" baseline="2222" sz="1875" spc="-30" b="1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baseline="2222" sz="1875" b="1">
                <a:solidFill>
                  <a:srgbClr val="24333B"/>
                </a:solidFill>
                <a:latin typeface="Calibri"/>
                <a:cs typeface="Calibri"/>
              </a:rPr>
              <a:t>rates:</a:t>
            </a:r>
            <a:r>
              <a:rPr dirty="0" baseline="2222" sz="1875" spc="412" b="1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B210</a:t>
            </a:r>
            <a:r>
              <a:rPr dirty="0" sz="1250" spc="-1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to</a:t>
            </a:r>
            <a:r>
              <a:rPr dirty="0" sz="1250" spc="-2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its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real</a:t>
            </a:r>
            <a:r>
              <a:rPr dirty="0" sz="1250" spc="-2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61.44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MS/s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ceiling,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master-</a:t>
            </a:r>
            <a:r>
              <a:rPr dirty="0" sz="1250" spc="-10">
                <a:solidFill>
                  <a:srgbClr val="24333B"/>
                </a:solidFill>
                <a:latin typeface="Calibri"/>
                <a:cs typeface="Calibri"/>
              </a:rPr>
              <a:t>clock-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clean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4333B"/>
                </a:solidFill>
                <a:latin typeface="Calibri"/>
                <a:cs typeface="Calibri"/>
              </a:rPr>
              <a:t>presets.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0219" y="5117385"/>
            <a:ext cx="7778115" cy="62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b="1">
                <a:solidFill>
                  <a:srgbClr val="B86918"/>
                </a:solidFill>
                <a:latin typeface="Cambria"/>
                <a:cs typeface="Cambria"/>
              </a:rPr>
              <a:t>v1.2.0</a:t>
            </a:r>
            <a:r>
              <a:rPr dirty="0" sz="1550" spc="-20" b="1">
                <a:solidFill>
                  <a:srgbClr val="B86918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B86918"/>
                </a:solidFill>
                <a:latin typeface="Cambria"/>
                <a:cs typeface="Cambria"/>
              </a:rPr>
              <a:t>—</a:t>
            </a:r>
            <a:r>
              <a:rPr dirty="0" sz="1550" spc="-15" b="1">
                <a:solidFill>
                  <a:srgbClr val="B86918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B86918"/>
                </a:solidFill>
                <a:latin typeface="Cambria"/>
                <a:cs typeface="Cambria"/>
              </a:rPr>
              <a:t>landed</a:t>
            </a:r>
            <a:r>
              <a:rPr dirty="0" sz="1550" spc="-20" b="1">
                <a:solidFill>
                  <a:srgbClr val="B86918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B86918"/>
                </a:solidFill>
                <a:latin typeface="Cambria"/>
                <a:cs typeface="Cambria"/>
              </a:rPr>
              <a:t>this</a:t>
            </a:r>
            <a:r>
              <a:rPr dirty="0" sz="1550" spc="-15" b="1">
                <a:solidFill>
                  <a:srgbClr val="B86918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B86918"/>
                </a:solidFill>
                <a:latin typeface="Cambria"/>
                <a:cs typeface="Cambria"/>
              </a:rPr>
              <a:t>morning</a:t>
            </a:r>
            <a:endParaRPr sz="1550">
              <a:latin typeface="Cambria"/>
              <a:cs typeface="Cambria"/>
            </a:endParaRPr>
          </a:p>
          <a:p>
            <a:pPr marL="533400" indent="-246379">
              <a:lnSpc>
                <a:spcPct val="100000"/>
              </a:lnSpc>
              <a:spcBef>
                <a:spcPts val="1375"/>
              </a:spcBef>
              <a:buClr>
                <a:srgbClr val="B86918"/>
              </a:buClr>
              <a:buSzPct val="96000"/>
              <a:buFont typeface="Calibri"/>
              <a:buChar char="▪"/>
              <a:tabLst>
                <a:tab pos="533400" algn="l"/>
              </a:tabLst>
            </a:pPr>
            <a:r>
              <a:rPr dirty="0" sz="1250" b="1">
                <a:solidFill>
                  <a:srgbClr val="24333B"/>
                </a:solidFill>
                <a:latin typeface="Calibri"/>
                <a:cs typeface="Calibri"/>
              </a:rPr>
              <a:t>Full</a:t>
            </a:r>
            <a:r>
              <a:rPr dirty="0" sz="1250" spc="-20" b="1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24333B"/>
                </a:solidFill>
                <a:latin typeface="Calibri"/>
                <a:cs typeface="Calibri"/>
              </a:rPr>
              <a:t>UI</a:t>
            </a:r>
            <a:r>
              <a:rPr dirty="0" sz="1250" spc="-20" b="1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24333B"/>
                </a:solidFill>
                <a:latin typeface="Calibri"/>
                <a:cs typeface="Calibri"/>
              </a:rPr>
              <a:t>redesign:</a:t>
            </a:r>
            <a:r>
              <a:rPr dirty="0" sz="1250" spc="265" b="1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menus,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six</a:t>
            </a:r>
            <a:r>
              <a:rPr dirty="0" sz="1250" spc="-2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dockable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panels,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4333B"/>
                </a:solidFill>
                <a:latin typeface="Calibri"/>
                <a:cs typeface="Calibri"/>
              </a:rPr>
              <a:t>one-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click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4333B"/>
                </a:solidFill>
                <a:latin typeface="Calibri"/>
                <a:cs typeface="Calibri"/>
              </a:rPr>
              <a:t>observation</a:t>
            </a:r>
            <a:r>
              <a:rPr dirty="0" sz="1250" spc="-2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setup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—</a:t>
            </a:r>
            <a:r>
              <a:rPr dirty="0" sz="1250" spc="-2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ask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during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Q&amp;A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and</a:t>
            </a:r>
            <a:r>
              <a:rPr dirty="0" sz="1250" spc="-2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I’ll</a:t>
            </a:r>
            <a:r>
              <a:rPr dirty="0" sz="1250" spc="-25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show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333B"/>
                </a:solidFill>
                <a:latin typeface="Calibri"/>
                <a:cs typeface="Calibri"/>
              </a:rPr>
              <a:t>it</a:t>
            </a:r>
            <a:r>
              <a:rPr dirty="0" sz="1250" spc="-20">
                <a:solidFill>
                  <a:srgbClr val="24333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4333B"/>
                </a:solidFill>
                <a:latin typeface="Calibri"/>
                <a:cs typeface="Calibri"/>
              </a:rPr>
              <a:t>live.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61319" y="310895"/>
            <a:ext cx="1188720" cy="438912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DSES</a:t>
            </a:r>
            <a:r>
              <a:rPr dirty="0" spc="-15"/>
              <a:t> </a:t>
            </a:r>
            <a:r>
              <a:rPr dirty="0"/>
              <a:t>Spectrum</a:t>
            </a:r>
            <a:r>
              <a:rPr dirty="0" spc="-5"/>
              <a:t> </a:t>
            </a:r>
            <a:r>
              <a:rPr dirty="0"/>
              <a:t>Analyzer</a:t>
            </a:r>
            <a:r>
              <a:rPr dirty="0" spc="-5"/>
              <a:t> </a:t>
            </a:r>
            <a:r>
              <a:rPr dirty="0"/>
              <a:t>—</a:t>
            </a:r>
            <a:r>
              <a:rPr dirty="0" spc="-10"/>
              <a:t> gpstime.com/sw_distribution/b210_sa </a:t>
            </a:r>
            <a:r>
              <a:rPr dirty="0"/>
              <a:t>(free,</a:t>
            </a:r>
            <a:r>
              <a:rPr dirty="0" spc="-5"/>
              <a:t> </a:t>
            </a:r>
            <a:r>
              <a:rPr dirty="0"/>
              <a:t>GPL)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Richard</a:t>
            </a:r>
            <a:r>
              <a:rPr dirty="0" spc="-10"/>
              <a:t> </a:t>
            </a:r>
            <a:r>
              <a:rPr dirty="0"/>
              <a:t>Hambly</a:t>
            </a:r>
            <a:r>
              <a:rPr dirty="0" spc="-5"/>
              <a:t> </a:t>
            </a:r>
            <a:r>
              <a:rPr dirty="0"/>
              <a:t>K0GD</a:t>
            </a:r>
            <a:r>
              <a:rPr dirty="0" spc="-1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SARA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Radio</a:t>
            </a:r>
            <a:r>
              <a:rPr dirty="0" spc="-10"/>
              <a:t> </a:t>
            </a:r>
            <a:r>
              <a:rPr dirty="0"/>
              <a:t>Jove</a:t>
            </a:r>
            <a:r>
              <a:rPr dirty="0" spc="-5"/>
              <a:t> </a:t>
            </a:r>
            <a:r>
              <a:rPr dirty="0"/>
              <a:t>Eastern</a:t>
            </a:r>
            <a:r>
              <a:rPr dirty="0" spc="-10"/>
              <a:t> </a:t>
            </a:r>
            <a:r>
              <a:rPr dirty="0"/>
              <a:t>Conference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2026-08-04T18:56:41Z</dcterms:created>
  <dcterms:modified xsi:type="dcterms:W3CDTF">2026-08-04T18:56:41Z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2026-08-04T00:00:00Z</vt:filetime>
  </property>
  <property fmtid="{D5CDD505-2E9C-101B-9397-08002B2CF9AE}" pid="3" name="Creator">
    <vt:lpwstr>Matplotlib v3.10.9, https://matplotlib.org</vt:lpwstr>
  </property>
  <property fmtid="{D5CDD505-2E9C-101B-9397-08002B2CF9AE}" pid="4" name="Producer">
    <vt:lpwstr>Matplotlib pdf backend v3.10.9</vt:lpwstr>
  </property>
  <property fmtid="{D5CDD505-2E9C-101B-9397-08002B2CF9AE}" pid="5" name="LastSaved">
    <vt:filetime>2026-08-04T00:00:00Z</vt:filetime>
  </property>
</Properties>
</file>