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 sentence framing: this is the story of a deliberate experiment — can we make pulsar observing something any motivated DSES member can do, not just our two experts? Field session July 11, 2026 at the Haswell, Colorado 60-foot dish; results verified over the following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abstract is what goes to the SARA meeting planner. Read silently in rehearsal, skip live — or show for a beat while introducing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where due: this toolchain produces first-rate, professional results, and Rich and Dan built DSES's pulsar program on it. The point is not that the tools are bad — it's that the barrier to entry kept hands-on observing limited to two people. Hundreds of pages of training material is a real number. The grayed row is the kicker: the professional world in common use runs even deeper — PSRCHIVE is a whole additional suite our two experts didn't even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 contrast with the previous slide: the wall of chips collapses to two. On site, the Spectrum Analyzer does everything the observer needs; at home (or in the field), PRESTO v6 plus TEMPO2 does the analysis. PRESTO v6 dropped the classic-TEMPO dependency — barycentering is in-process and polycos come from TEMPO2 — and both installations are captured as re-runnable build scripts in the Society's repository (WSL on Windows,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observer does on site — plan, survey, verify, record — in one package. The analysis side (PRESTO) stays the professional standard; the acquisition side no longer requires it to be assembled by hand. Distribution is from the Society's server with a built-in update checker.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Society's first live pulsar session using its own software. Team of three; none are pulsar-processing experts in the sense of the previous slide. Everything on site ran through the Spectrum Analyzer on one laptop driving the B210 at the 60-foot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geometry for both recordings: 20 MHz at 420 MHz, 256 channels, 204.8 microsecond sampling, 32-bit — written directly as SIGPROC filterbank, the format PRESTO consumes. Nearly 18 GB across the two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figure: profile top-left (double peak), phase-vs-time panel shows persistence, and the DM curve peaks near the catalog value. Fold types all agree: topocentric ~20.1 sigma, barycentric against the published ephemeris ~19.9 sigma, blind search 20.6 sigma at DM ≈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teaching moment for the audience: low-DM pulsars at modest bandwidth can masquerade as RFI in a blind search. Topocentric fold ~9.7 sigma, barycentric ~9.8. Scintillation means apparent brightness varies as interstellar plasma focuses and defocuses the signal — longer integration next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arguments. Physics: the dispersion curve is the fingerprint — RFI doesn't have one. Engineering: the same recordings re-analyzed on separately compiled PRESTO builds on two operating systems agree to three significant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Crowd-pleaser story: the field box (Raspberry Pi 5, viewed over remote desktop) had 'broken' menus. Every symptom traced to one condition — headless operation yields a zero-by-zero screen. The fix shipped in v1.1.6 and the box was verified running it. Moral for any club running remote gear.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field session asked for shipped within two days, and every machine — including the field box — converged on the release through the built-in updater. The line-endings epilogue is worth telling: the first Windows-built archive broke Unix launches; the field box exposed it within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effort: training starts now, on software a newcomer can learn in an afternoon instead of a season. Science follow-ups: longer B0950+08 integration, and repeated B0329+54 sessions toward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mission, not the software: this was about opening real radio astronomy to more members. Thanks: Rich and Dan built the program this stands on; the field team; and the report notes the role of AI-assisted engineering across three platforms.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9418320" y="137160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8686800" y="64008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7955280" y="-9144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7223760" y="-8229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6492240" y="-1554480"/>
            <a:ext cx="7406640" cy="7406640"/>
          </a:xfrm>
          <a:prstGeom prst="ellipse">
            <a:avLst/>
          </a:prstGeom>
          <a:solidFill>
            <a:srgbClr val="0A2F40">
              <a:alpha val="0"/>
            </a:srgbClr>
          </a:solidFill>
          <a:ln w="12700">
            <a:solidFill>
              <a:srgbClr val="2E5A70"/>
            </a:solidFill>
            <a:prstDash val="solid"/>
          </a:ln>
        </p:spPr>
      </p:sp>
      <p:pic>
        <p:nvPicPr>
          <p:cNvPr id="7" name="Image 0" descr="C:\Users\rick\Documents\DSES\Science\Spectrum_Analyzer_PY\icons\dses_sa.png">    </p:cNvPr>
          <p:cNvPicPr>
            <a:picLocks noChangeAspect="1"/>
          </p:cNvPicPr>
          <p:nvPr/>
        </p:nvPicPr>
        <p:blipFill>
          <a:blip r:embed="rId1"/>
          <a:stretch>
            <a:fillRect/>
          </a:stretch>
        </p:blipFill>
        <p:spPr>
          <a:xfrm>
            <a:off x="9628632" y="1581912"/>
            <a:ext cx="1133856" cy="1133856"/>
          </a:xfrm>
          <a:prstGeom prst="ellipse">
            <a:avLst/>
          </a:prstGeom>
        </p:spPr>
      </p:pic>
      <p:sp>
        <p:nvSpPr>
          <p:cNvPr id="8" name="Text 5"/>
          <p:cNvSpPr/>
          <p:nvPr/>
        </p:nvSpPr>
        <p:spPr>
          <a:xfrm>
            <a:off x="685800" y="1051560"/>
            <a:ext cx="841248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SOCIETY OF AMATEUR RADIO ASTRONOMERS  •  2026 CONFERENCE</a:t>
            </a:r>
            <a:endParaRPr lang="en-US" sz="1250" dirty="0"/>
          </a:p>
        </p:txBody>
      </p:sp>
      <p:sp>
        <p:nvSpPr>
          <p:cNvPr id="9" name="Text 6"/>
          <p:cNvSpPr/>
          <p:nvPr/>
        </p:nvSpPr>
        <p:spPr>
          <a:xfrm>
            <a:off x="658368" y="1600200"/>
            <a:ext cx="8595360" cy="2103120"/>
          </a:xfrm>
          <a:prstGeom prst="rect">
            <a:avLst/>
          </a:prstGeom>
          <a:noFill/>
          <a:ln/>
        </p:spPr>
        <p:txBody>
          <a:bodyPr wrap="square" lIns="0" tIns="0" rIns="0" bIns="0" rtlCol="0" anchor="ctr"/>
          <a:lstStyle/>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Lowering the Barrier</a:t>
            </a:r>
            <a:endParaRPr lang="en-US" sz="4700" dirty="0"/>
          </a:p>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to Radio Astronomy</a:t>
            </a:r>
            <a:endParaRPr lang="en-US" sz="4700" dirty="0"/>
          </a:p>
        </p:txBody>
      </p:sp>
      <p:sp>
        <p:nvSpPr>
          <p:cNvPr id="10" name="Text 7"/>
          <p:cNvSpPr/>
          <p:nvPr/>
        </p:nvSpPr>
        <p:spPr>
          <a:xfrm>
            <a:off x="685800" y="3886200"/>
            <a:ext cx="7863840" cy="685800"/>
          </a:xfrm>
          <a:prstGeom prst="rect">
            <a:avLst/>
          </a:prstGeom>
          <a:noFill/>
          <a:ln/>
        </p:spPr>
        <p:txBody>
          <a:bodyPr wrap="square" lIns="0" tIns="0" rIns="0" bIns="0" rtlCol="0" anchor="ctr"/>
          <a:lstStyle/>
          <a:p>
            <a:pPr indent="0" marL="0">
              <a:buNone/>
            </a:pPr>
            <a:r>
              <a:rPr lang="en-US" sz="1700" dirty="0">
                <a:solidFill>
                  <a:srgbClr val="B8D2DE"/>
                </a:solidFill>
                <a:latin typeface="Calibri" pitchFamily="34" charset="0"/>
                <a:ea typeface="Calibri" pitchFamily="34" charset="-122"/>
                <a:cs typeface="Calibri" pitchFamily="34" charset="-120"/>
              </a:rPr>
              <a:t>First pulsar detections with the DSES Spectrum Analyzer — 60-foot dish, Haswell, Colorado</a:t>
            </a:r>
            <a:endParaRPr lang="en-US" sz="1700" dirty="0"/>
          </a:p>
        </p:txBody>
      </p:sp>
      <p:sp>
        <p:nvSpPr>
          <p:cNvPr id="11" name="Text 8"/>
          <p:cNvSpPr/>
          <p:nvPr/>
        </p:nvSpPr>
        <p:spPr>
          <a:xfrm>
            <a:off x="685800" y="4709160"/>
            <a:ext cx="82296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Richard M. Hambly (K0GD)</a:t>
            </a:r>
            <a:pPr indent="0" marL="0">
              <a:buNone/>
            </a:pPr>
            <a:r>
              <a:rPr lang="en-US" sz="1500" dirty="0">
                <a:solidFill>
                  <a:srgbClr val="B8D2DE"/>
                </a:solidFill>
                <a:latin typeface="Calibri" pitchFamily="34" charset="0"/>
                <a:ea typeface="Calibri" pitchFamily="34" charset="-122"/>
                <a:cs typeface="Calibri" pitchFamily="34" charset="-120"/>
              </a:rPr>
              <a:t>   •   Deep Space Exploration Society</a:t>
            </a:r>
            <a:endParaRPr lang="en-US" sz="1500" dirty="0"/>
          </a:p>
        </p:txBody>
      </p:sp>
      <p:pic>
        <p:nvPicPr>
          <p:cNvPr id="12" name="Image 1" descr="C:\Users\rick\Documents\DSES\Science\Spectrum_Analyzer_PY\reports\assets\DSES_Logo_Compact_Reversed_WhiteOnNavy.png">    </p:cNvPr>
          <p:cNvPicPr>
            <a:picLocks noChangeAspect="1"/>
          </p:cNvPicPr>
          <p:nvPr/>
        </p:nvPicPr>
        <p:blipFill>
          <a:blip r:embed="rId2"/>
          <a:stretch>
            <a:fillRect/>
          </a:stretch>
        </p:blipFill>
        <p:spPr>
          <a:xfrm>
            <a:off x="621792" y="5577840"/>
            <a:ext cx="2286000" cy="938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FOR THE SARA PROGRAM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Abstract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2</a:t>
            </a:r>
            <a:endParaRPr lang="en-US" sz="850" dirty="0"/>
          </a:p>
        </p:txBody>
      </p:sp>
      <p:sp>
        <p:nvSpPr>
          <p:cNvPr id="7" name="Shape 4"/>
          <p:cNvSpPr/>
          <p:nvPr/>
        </p:nvSpPr>
        <p:spPr>
          <a:xfrm>
            <a:off x="566928" y="1481328"/>
            <a:ext cx="7818120" cy="4709160"/>
          </a:xfrm>
          <a:prstGeom prst="roundRect">
            <a:avLst>
              <a:gd name="adj" fmla="val 1553"/>
            </a:avLst>
          </a:prstGeom>
          <a:solidFill>
            <a:srgbClr val="FFFFFF"/>
          </a:solidFill>
          <a:ln w="9525">
            <a:solidFill>
              <a:srgbClr val="D7E3EA"/>
            </a:solidFill>
            <a:prstDash val="solid"/>
          </a:ln>
        </p:spPr>
      </p:sp>
      <p:sp>
        <p:nvSpPr>
          <p:cNvPr id="8" name="Text 5"/>
          <p:cNvSpPr/>
          <p:nvPr/>
        </p:nvSpPr>
        <p:spPr>
          <a:xfrm>
            <a:off x="841248" y="1737360"/>
            <a:ext cx="7269480" cy="4206240"/>
          </a:xfrm>
          <a:prstGeom prst="rect">
            <a:avLst/>
          </a:prstGeom>
          <a:noFill/>
          <a:ln/>
        </p:spPr>
        <p:txBody>
          <a:bodyPr wrap="square" lIns="0" tIns="0" rIns="0" bIns="0" rtlCol="0" anchor="t"/>
          <a:lstStyle/>
          <a:p>
            <a:pPr indent="0" marL="0">
              <a:lnSpc>
                <a:spcPct val="112000"/>
              </a:lnSpc>
              <a:buNone/>
            </a:pPr>
            <a:r>
              <a:rPr lang="en-US" sz="1350" dirty="0">
                <a:solidFill>
                  <a:srgbClr val="24343C"/>
                </a:solidFill>
                <a:latin typeface="Calibri" pitchFamily="34" charset="0"/>
                <a:ea typeface="Calibri" pitchFamily="34" charset="-122"/>
                <a:cs typeface="Calibri" pitchFamily="34" charset="-120"/>
              </a:rPr>
              <a:t>For years, pulsar observing at the Deep Space Exploration Society has rested on a professional toolchain — PRESTO and TEMPO built from source, custom GNU Radio flowgraphs, SIGPROC utilities, and companion analysis tools — with a learning curve steep enough that only two members could take an observation from dish to detection. This talk describes a deliberate experiment in lowering that barrier. DSES developed the Spectrum Analyzer, a cross-platform application that consolidates the on-site workflow — planning the observation, choosing clean frequencies, verifying the RF path, and recording analysis-ready SIGPROC filterbank data — into a single, easy-to-use package driving an Ettus USRP B210 software-defined radio. On July 11, 2026, a three-member team, none of them pulsar-processing experts, put the premise to the test at the Society’s 60-foot dish in Haswell, Colorado. Both target pulsars were detected with high confidence — B0329+54 at ~20 sigma and B0950+08 at ~10 sigma — and the detections were reproduced independently on two operating systems, agreeing to three significant figures. The talk walks through the software, the observing session, the PRESTO analysis (including how dispersion separates a real pulsar from interference), some instructive field-engineering surprises, and the road ahead: training a new generation of DSES observers on a far gentler learning curve.</a:t>
            </a:r>
            <a:endParaRPr lang="en-US" sz="1350" dirty="0"/>
          </a:p>
        </p:txBody>
      </p:sp>
      <p:sp>
        <p:nvSpPr>
          <p:cNvPr id="9" name="Shape 6"/>
          <p:cNvSpPr/>
          <p:nvPr/>
        </p:nvSpPr>
        <p:spPr>
          <a:xfrm>
            <a:off x="8686800" y="1481328"/>
            <a:ext cx="2926080" cy="4709160"/>
          </a:xfrm>
          <a:prstGeom prst="roundRect">
            <a:avLst>
              <a:gd name="adj" fmla="val 2500"/>
            </a:avLst>
          </a:prstGeom>
          <a:solidFill>
            <a:srgbClr val="EFF4F7"/>
          </a:solidFill>
          <a:ln w="9525">
            <a:solidFill>
              <a:srgbClr val="D7E3EA"/>
            </a:solidFill>
            <a:prstDash val="solid"/>
          </a:ln>
        </p:spPr>
      </p:sp>
      <p:sp>
        <p:nvSpPr>
          <p:cNvPr id="10" name="Text 7"/>
          <p:cNvSpPr/>
          <p:nvPr/>
        </p:nvSpPr>
        <p:spPr>
          <a:xfrm>
            <a:off x="8915400" y="1755648"/>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SPEAKER</a:t>
            </a:r>
            <a:endParaRPr lang="en-US" sz="1000" dirty="0"/>
          </a:p>
        </p:txBody>
      </p:sp>
      <p:sp>
        <p:nvSpPr>
          <p:cNvPr id="11" name="Text 8"/>
          <p:cNvSpPr/>
          <p:nvPr/>
        </p:nvSpPr>
        <p:spPr>
          <a:xfrm>
            <a:off x="8915400" y="1993392"/>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Richard M. Hambly, K0GD</a:t>
            </a:r>
            <a:endParaRPr lang="en-US" sz="1200" dirty="0"/>
          </a:p>
        </p:txBody>
      </p:sp>
      <p:sp>
        <p:nvSpPr>
          <p:cNvPr id="12" name="Text 9"/>
          <p:cNvSpPr/>
          <p:nvPr/>
        </p:nvSpPr>
        <p:spPr>
          <a:xfrm>
            <a:off x="8915400" y="2642616"/>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SOCIETY</a:t>
            </a:r>
            <a:endParaRPr lang="en-US" sz="1000" dirty="0"/>
          </a:p>
        </p:txBody>
      </p:sp>
      <p:sp>
        <p:nvSpPr>
          <p:cNvPr id="13" name="Text 10"/>
          <p:cNvSpPr/>
          <p:nvPr/>
        </p:nvSpPr>
        <p:spPr>
          <a:xfrm>
            <a:off x="8915400" y="2880360"/>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Deep Space Exploration Society (DSES), Colorado</a:t>
            </a:r>
            <a:endParaRPr lang="en-US" sz="1200" dirty="0"/>
          </a:p>
        </p:txBody>
      </p:sp>
      <p:sp>
        <p:nvSpPr>
          <p:cNvPr id="14" name="Text 11"/>
          <p:cNvSpPr/>
          <p:nvPr/>
        </p:nvSpPr>
        <p:spPr>
          <a:xfrm>
            <a:off x="8915400" y="3529584"/>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INSTRUMENT</a:t>
            </a:r>
            <a:endParaRPr lang="en-US" sz="1000" dirty="0"/>
          </a:p>
        </p:txBody>
      </p:sp>
      <p:sp>
        <p:nvSpPr>
          <p:cNvPr id="15" name="Text 12"/>
          <p:cNvSpPr/>
          <p:nvPr/>
        </p:nvSpPr>
        <p:spPr>
          <a:xfrm>
            <a:off x="8915400" y="3767328"/>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60-ft dish + Ettus USRP B210 SDR</a:t>
            </a:r>
            <a:endParaRPr lang="en-US" sz="1200" dirty="0"/>
          </a:p>
        </p:txBody>
      </p:sp>
      <p:sp>
        <p:nvSpPr>
          <p:cNvPr id="16" name="Text 13"/>
          <p:cNvSpPr/>
          <p:nvPr/>
        </p:nvSpPr>
        <p:spPr>
          <a:xfrm>
            <a:off x="8915400" y="4416552"/>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SOFTWARE</a:t>
            </a:r>
            <a:endParaRPr lang="en-US" sz="1000" dirty="0"/>
          </a:p>
        </p:txBody>
      </p:sp>
      <p:sp>
        <p:nvSpPr>
          <p:cNvPr id="17" name="Text 14"/>
          <p:cNvSpPr/>
          <p:nvPr/>
        </p:nvSpPr>
        <p:spPr>
          <a:xfrm>
            <a:off x="8915400" y="4654296"/>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DSES Spectrum Analyzer + PRESTO</a:t>
            </a:r>
            <a:endParaRPr lang="en-US" sz="1200" dirty="0"/>
          </a:p>
        </p:txBody>
      </p:sp>
      <p:sp>
        <p:nvSpPr>
          <p:cNvPr id="18" name="Text 15"/>
          <p:cNvSpPr/>
          <p:nvPr/>
        </p:nvSpPr>
        <p:spPr>
          <a:xfrm>
            <a:off x="8915400" y="5303520"/>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KEYWORDS</a:t>
            </a:r>
            <a:endParaRPr lang="en-US" sz="1000" dirty="0"/>
          </a:p>
        </p:txBody>
      </p:sp>
      <p:sp>
        <p:nvSpPr>
          <p:cNvPr id="19" name="Text 16"/>
          <p:cNvSpPr/>
          <p:nvPr/>
        </p:nvSpPr>
        <p:spPr>
          <a:xfrm>
            <a:off x="8915400" y="5541264"/>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pulsars • SDR • filterbank • accessibility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Pulsar observing had become an experts-only craft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3</a:t>
            </a:r>
            <a:endParaRPr lang="en-US" sz="850" dirty="0"/>
          </a:p>
        </p:txBody>
      </p:sp>
      <p:sp>
        <p:nvSpPr>
          <p:cNvPr id="7" name="Text 4"/>
          <p:cNvSpPr/>
          <p:nvPr/>
        </p:nvSpPr>
        <p:spPr>
          <a:xfrm>
            <a:off x="566928" y="1444752"/>
            <a:ext cx="7772400" cy="5943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For years the Society’s results rested on two members — </a:t>
            </a:r>
            <a:pPr indent="0" marL="0">
              <a:buNone/>
            </a:pPr>
            <a:r>
              <a:rPr lang="en-US" sz="1400" b="1" dirty="0">
                <a:solidFill>
                  <a:srgbClr val="24343C"/>
                </a:solidFill>
                <a:latin typeface="Calibri" pitchFamily="34" charset="0"/>
                <a:ea typeface="Calibri" pitchFamily="34" charset="-122"/>
                <a:cs typeface="Calibri" pitchFamily="34" charset="-120"/>
              </a:rPr>
              <a:t>Dr. Richard Russel (AC0UB)</a:t>
            </a:r>
            <a:pPr indent="0" marL="0">
              <a:buNone/>
            </a:pPr>
            <a:r>
              <a:rPr lang="en-US" sz="1400" dirty="0">
                <a:solidFill>
                  <a:srgbClr val="24343C"/>
                </a:solidFill>
                <a:latin typeface="Calibri" pitchFamily="34" charset="0"/>
                <a:ea typeface="Calibri" pitchFamily="34" charset="-122"/>
                <a:cs typeface="Calibri" pitchFamily="34" charset="-120"/>
              </a:rPr>
              <a:t> and </a:t>
            </a:r>
            <a:pPr indent="0" marL="0">
              <a:buNone/>
            </a:pPr>
            <a:r>
              <a:rPr lang="en-US" sz="1400" b="1" dirty="0">
                <a:solidFill>
                  <a:srgbClr val="24343C"/>
                </a:solidFill>
                <a:latin typeface="Calibri" pitchFamily="34" charset="0"/>
                <a:ea typeface="Calibri" pitchFamily="34" charset="-122"/>
                <a:cs typeface="Calibri" pitchFamily="34" charset="-120"/>
              </a:rPr>
              <a:t>Dan Layne (AD0CY)</a:t>
            </a:r>
            <a:pPr indent="0" marL="0">
              <a:buNone/>
            </a:pPr>
            <a:r>
              <a:rPr lang="en-US" sz="1400" dirty="0">
                <a:solidFill>
                  <a:srgbClr val="24343C"/>
                </a:solidFill>
                <a:latin typeface="Calibri" pitchFamily="34" charset="0"/>
                <a:ea typeface="Calibri" pitchFamily="34" charset="-122"/>
                <a:cs typeface="Calibri" pitchFamily="34" charset="-120"/>
              </a:rPr>
              <a:t> — and the professional toolchain they mastered:</a:t>
            </a:r>
            <a:endParaRPr lang="en-US" sz="1400" dirty="0"/>
          </a:p>
        </p:txBody>
      </p:sp>
      <p:sp>
        <p:nvSpPr>
          <p:cNvPr id="8" name="Shape 5"/>
          <p:cNvSpPr/>
          <p:nvPr/>
        </p:nvSpPr>
        <p:spPr>
          <a:xfrm>
            <a:off x="566928" y="2212848"/>
            <a:ext cx="3886200" cy="1024128"/>
          </a:xfrm>
          <a:prstGeom prst="roundRect">
            <a:avLst>
              <a:gd name="adj" fmla="val 7143"/>
            </a:avLst>
          </a:prstGeom>
          <a:solidFill>
            <a:srgbClr val="EFF4F7"/>
          </a:solidFill>
          <a:ln w="9525">
            <a:solidFill>
              <a:srgbClr val="D7E3EA"/>
            </a:solidFill>
            <a:prstDash val="solid"/>
          </a:ln>
        </p:spPr>
      </p:sp>
      <p:sp>
        <p:nvSpPr>
          <p:cNvPr id="9" name="Text 6"/>
          <p:cNvSpPr/>
          <p:nvPr/>
        </p:nvSpPr>
        <p:spPr>
          <a:xfrm>
            <a:off x="768096" y="2322576"/>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PRESTO v5 + TEMPO1 + TEMPO2</a:t>
            </a:r>
            <a:endParaRPr lang="en-US" sz="1350" dirty="0"/>
          </a:p>
        </p:txBody>
      </p:sp>
      <p:sp>
        <p:nvSpPr>
          <p:cNvPr id="10" name="Text 7"/>
          <p:cNvSpPr/>
          <p:nvPr/>
        </p:nvSpPr>
        <p:spPr>
          <a:xfrm>
            <a:off x="768096" y="2615184"/>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built from source; hand-edited observatory coordinate and clock files</a:t>
            </a:r>
            <a:endParaRPr lang="en-US" sz="1150" dirty="0"/>
          </a:p>
        </p:txBody>
      </p:sp>
      <p:sp>
        <p:nvSpPr>
          <p:cNvPr id="11" name="Shape 8"/>
          <p:cNvSpPr/>
          <p:nvPr/>
        </p:nvSpPr>
        <p:spPr>
          <a:xfrm>
            <a:off x="4654296" y="2212848"/>
            <a:ext cx="3886200" cy="1024128"/>
          </a:xfrm>
          <a:prstGeom prst="roundRect">
            <a:avLst>
              <a:gd name="adj" fmla="val 7143"/>
            </a:avLst>
          </a:prstGeom>
          <a:solidFill>
            <a:srgbClr val="EFF4F7"/>
          </a:solidFill>
          <a:ln w="9525">
            <a:solidFill>
              <a:srgbClr val="D7E3EA"/>
            </a:solidFill>
            <a:prstDash val="solid"/>
          </a:ln>
        </p:spPr>
      </p:sp>
      <p:sp>
        <p:nvSpPr>
          <p:cNvPr id="12" name="Text 9"/>
          <p:cNvSpPr/>
          <p:nvPr/>
        </p:nvSpPr>
        <p:spPr>
          <a:xfrm>
            <a:off x="4855464" y="2322576"/>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GNU Radio</a:t>
            </a:r>
            <a:endParaRPr lang="en-US" sz="1350" dirty="0"/>
          </a:p>
        </p:txBody>
      </p:sp>
      <p:sp>
        <p:nvSpPr>
          <p:cNvPr id="13" name="Text 10"/>
          <p:cNvSpPr/>
          <p:nvPr/>
        </p:nvSpPr>
        <p:spPr>
          <a:xfrm>
            <a:off x="4855464" y="2615184"/>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custom filterbank flowgraphs driving the B210</a:t>
            </a:r>
            <a:endParaRPr lang="en-US" sz="1150" dirty="0"/>
          </a:p>
        </p:txBody>
      </p:sp>
      <p:sp>
        <p:nvSpPr>
          <p:cNvPr id="14" name="Shape 11"/>
          <p:cNvSpPr/>
          <p:nvPr/>
        </p:nvSpPr>
        <p:spPr>
          <a:xfrm>
            <a:off x="566928" y="3392424"/>
            <a:ext cx="3886200" cy="1024128"/>
          </a:xfrm>
          <a:prstGeom prst="roundRect">
            <a:avLst>
              <a:gd name="adj" fmla="val 7143"/>
            </a:avLst>
          </a:prstGeom>
          <a:solidFill>
            <a:srgbClr val="EFF4F7"/>
          </a:solidFill>
          <a:ln w="9525">
            <a:solidFill>
              <a:srgbClr val="D7E3EA"/>
            </a:solidFill>
            <a:prstDash val="solid"/>
          </a:ln>
        </p:spPr>
      </p:sp>
      <p:sp>
        <p:nvSpPr>
          <p:cNvPr id="15" name="Text 12"/>
          <p:cNvSpPr/>
          <p:nvPr/>
        </p:nvSpPr>
        <p:spPr>
          <a:xfrm>
            <a:off x="768096" y="3502152"/>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SIGPROC</a:t>
            </a:r>
            <a:endParaRPr lang="en-US" sz="1350" dirty="0"/>
          </a:p>
        </p:txBody>
      </p:sp>
      <p:sp>
        <p:nvSpPr>
          <p:cNvPr id="16" name="Text 13"/>
          <p:cNvSpPr/>
          <p:nvPr/>
        </p:nvSpPr>
        <p:spPr>
          <a:xfrm>
            <a:off x="768096" y="3794760"/>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filterbank-format utilities</a:t>
            </a:r>
            <a:endParaRPr lang="en-US" sz="1150" dirty="0"/>
          </a:p>
        </p:txBody>
      </p:sp>
      <p:sp>
        <p:nvSpPr>
          <p:cNvPr id="17" name="Shape 14"/>
          <p:cNvSpPr/>
          <p:nvPr/>
        </p:nvSpPr>
        <p:spPr>
          <a:xfrm>
            <a:off x="4654296" y="3392424"/>
            <a:ext cx="3886200" cy="1024128"/>
          </a:xfrm>
          <a:prstGeom prst="roundRect">
            <a:avLst>
              <a:gd name="adj" fmla="val 7143"/>
            </a:avLst>
          </a:prstGeom>
          <a:solidFill>
            <a:srgbClr val="EFF4F7"/>
          </a:solidFill>
          <a:ln w="9525">
            <a:solidFill>
              <a:srgbClr val="D7E3EA"/>
            </a:solidFill>
            <a:prstDash val="solid"/>
          </a:ln>
        </p:spPr>
      </p:sp>
      <p:sp>
        <p:nvSpPr>
          <p:cNvPr id="18" name="Text 15"/>
          <p:cNvSpPr/>
          <p:nvPr/>
        </p:nvSpPr>
        <p:spPr>
          <a:xfrm>
            <a:off x="4855464" y="3502152"/>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blimpy / watutil</a:t>
            </a:r>
            <a:endParaRPr lang="en-US" sz="1350" dirty="0"/>
          </a:p>
        </p:txBody>
      </p:sp>
      <p:sp>
        <p:nvSpPr>
          <p:cNvPr id="19" name="Text 16"/>
          <p:cNvSpPr/>
          <p:nvPr/>
        </p:nvSpPr>
        <p:spPr>
          <a:xfrm>
            <a:off x="4855464" y="3794760"/>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Breakthrough Listen tools for RFI and saturation checks</a:t>
            </a:r>
            <a:endParaRPr lang="en-US" sz="1150" dirty="0"/>
          </a:p>
        </p:txBody>
      </p:sp>
      <p:sp>
        <p:nvSpPr>
          <p:cNvPr id="20" name="Shape 17"/>
          <p:cNvSpPr/>
          <p:nvPr/>
        </p:nvSpPr>
        <p:spPr>
          <a:xfrm>
            <a:off x="566928" y="4572000"/>
            <a:ext cx="3886200" cy="1024128"/>
          </a:xfrm>
          <a:prstGeom prst="roundRect">
            <a:avLst>
              <a:gd name="adj" fmla="val 7143"/>
            </a:avLst>
          </a:prstGeom>
          <a:solidFill>
            <a:srgbClr val="EFF4F7"/>
          </a:solidFill>
          <a:ln w="9525">
            <a:solidFill>
              <a:srgbClr val="D7E3EA"/>
            </a:solidFill>
            <a:prstDash val="solid"/>
          </a:ln>
        </p:spPr>
      </p:sp>
      <p:sp>
        <p:nvSpPr>
          <p:cNvPr id="21" name="Text 18"/>
          <p:cNvSpPr/>
          <p:nvPr/>
        </p:nvSpPr>
        <p:spPr>
          <a:xfrm>
            <a:off x="768096" y="4681728"/>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Murmur + Best Profile Analyzer</a:t>
            </a:r>
            <a:endParaRPr lang="en-US" sz="1350" dirty="0"/>
          </a:p>
        </p:txBody>
      </p:sp>
      <p:sp>
        <p:nvSpPr>
          <p:cNvPr id="22" name="Text 19"/>
          <p:cNvSpPr/>
          <p:nvPr/>
        </p:nvSpPr>
        <p:spPr>
          <a:xfrm>
            <a:off x="768096" y="4974336"/>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I0NAA planning and analysis tools — run under Wine</a:t>
            </a:r>
            <a:endParaRPr lang="en-US" sz="1150" dirty="0"/>
          </a:p>
        </p:txBody>
      </p:sp>
      <p:sp>
        <p:nvSpPr>
          <p:cNvPr id="23" name="Shape 20"/>
          <p:cNvSpPr/>
          <p:nvPr/>
        </p:nvSpPr>
        <p:spPr>
          <a:xfrm>
            <a:off x="4654296" y="4572000"/>
            <a:ext cx="3886200" cy="1024128"/>
          </a:xfrm>
          <a:prstGeom prst="roundRect">
            <a:avLst>
              <a:gd name="adj" fmla="val 7143"/>
            </a:avLst>
          </a:prstGeom>
          <a:solidFill>
            <a:srgbClr val="EFF4F7"/>
          </a:solidFill>
          <a:ln w="9525">
            <a:solidFill>
              <a:srgbClr val="D7E3EA"/>
            </a:solidFill>
            <a:prstDash val="solid"/>
          </a:ln>
        </p:spPr>
      </p:sp>
      <p:sp>
        <p:nvSpPr>
          <p:cNvPr id="24" name="Text 21"/>
          <p:cNvSpPr/>
          <p:nvPr/>
        </p:nvSpPr>
        <p:spPr>
          <a:xfrm>
            <a:off x="4855464" y="4681728"/>
            <a:ext cx="3483864" cy="292608"/>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Stellarium + experience</a:t>
            </a:r>
            <a:endParaRPr lang="en-US" sz="1350" dirty="0"/>
          </a:p>
        </p:txBody>
      </p:sp>
      <p:sp>
        <p:nvSpPr>
          <p:cNvPr id="25" name="Text 22"/>
          <p:cNvSpPr/>
          <p:nvPr/>
        </p:nvSpPr>
        <p:spPr>
          <a:xfrm>
            <a:off x="4855464" y="4974336"/>
            <a:ext cx="3483864" cy="566928"/>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above all, knowing how the pieces fit together</a:t>
            </a:r>
            <a:endParaRPr lang="en-US" sz="1150" dirty="0"/>
          </a:p>
        </p:txBody>
      </p:sp>
      <p:sp>
        <p:nvSpPr>
          <p:cNvPr id="26" name="Shape 23"/>
          <p:cNvSpPr/>
          <p:nvPr/>
        </p:nvSpPr>
        <p:spPr>
          <a:xfrm>
            <a:off x="566928" y="5760720"/>
            <a:ext cx="7973568" cy="566928"/>
          </a:xfrm>
          <a:prstGeom prst="roundRect">
            <a:avLst>
              <a:gd name="adj" fmla="val 12903"/>
            </a:avLst>
          </a:prstGeom>
          <a:solidFill>
            <a:srgbClr val="F7FAFB"/>
          </a:solidFill>
          <a:ln w="9525">
            <a:solidFill>
              <a:srgbClr val="E5EDF1"/>
            </a:solidFill>
            <a:prstDash val="solid"/>
          </a:ln>
        </p:spPr>
      </p:sp>
      <p:sp>
        <p:nvSpPr>
          <p:cNvPr id="27" name="Text 24"/>
          <p:cNvSpPr/>
          <p:nvPr/>
        </p:nvSpPr>
        <p:spPr>
          <a:xfrm>
            <a:off x="768096" y="5760720"/>
            <a:ext cx="7571232" cy="566928"/>
          </a:xfrm>
          <a:prstGeom prst="rect">
            <a:avLst/>
          </a:prstGeom>
          <a:noFill/>
          <a:ln/>
        </p:spPr>
        <p:txBody>
          <a:bodyPr wrap="square" lIns="0" tIns="0" rIns="0" bIns="0" rtlCol="0" anchor="ctr"/>
          <a:lstStyle/>
          <a:p>
            <a:pPr indent="0" marL="0">
              <a:buNone/>
            </a:pPr>
            <a:r>
              <a:rPr lang="en-US" sz="1150" b="1" dirty="0">
                <a:solidFill>
                  <a:srgbClr val="6B7A82"/>
                </a:solidFill>
                <a:latin typeface="Calibri" pitchFamily="34" charset="0"/>
                <a:ea typeface="Calibri" pitchFamily="34" charset="-122"/>
                <a:cs typeface="Calibri" pitchFamily="34" charset="-120"/>
              </a:rPr>
              <a:t>PSRCHIVE</a:t>
            </a:r>
            <a:pPr indent="0" marL="0">
              <a:buNone/>
            </a:pPr>
            <a:r>
              <a:rPr lang="en-US" sz="1150" dirty="0">
                <a:solidFill>
                  <a:srgbClr val="93A2AA"/>
                </a:solidFill>
                <a:latin typeface="Calibri" pitchFamily="34" charset="0"/>
                <a:ea typeface="Calibri" pitchFamily="34" charset="-122"/>
                <a:cs typeface="Calibri" pitchFamily="34" charset="-120"/>
              </a:rPr>
              <a:t>  —  the professional community’s archiving &amp; timing suite, in common use — beyond even our experts’ stack</a:t>
            </a:r>
            <a:endParaRPr lang="en-US" sz="1150" dirty="0"/>
          </a:p>
        </p:txBody>
      </p:sp>
      <p:sp>
        <p:nvSpPr>
          <p:cNvPr id="28" name="Shape 25"/>
          <p:cNvSpPr/>
          <p:nvPr/>
        </p:nvSpPr>
        <p:spPr>
          <a:xfrm>
            <a:off x="8778240" y="2212848"/>
            <a:ext cx="2834640" cy="1481328"/>
          </a:xfrm>
          <a:prstGeom prst="roundRect">
            <a:avLst>
              <a:gd name="adj" fmla="val 4938"/>
            </a:avLst>
          </a:prstGeom>
          <a:solidFill>
            <a:srgbClr val="EFF4F7"/>
          </a:solidFill>
          <a:ln w="9525">
            <a:solidFill>
              <a:srgbClr val="D7E3EA"/>
            </a:solidFill>
            <a:prstDash val="solid"/>
          </a:ln>
        </p:spPr>
      </p:sp>
      <p:sp>
        <p:nvSpPr>
          <p:cNvPr id="29" name="Text 26"/>
          <p:cNvSpPr/>
          <p:nvPr/>
        </p:nvSpPr>
        <p:spPr>
          <a:xfrm>
            <a:off x="8915400" y="2322576"/>
            <a:ext cx="2560320"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100s</a:t>
            </a:r>
            <a:endParaRPr lang="en-US" sz="3400" dirty="0"/>
          </a:p>
        </p:txBody>
      </p:sp>
      <p:sp>
        <p:nvSpPr>
          <p:cNvPr id="30" name="Text 27"/>
          <p:cNvSpPr/>
          <p:nvPr/>
        </p:nvSpPr>
        <p:spPr>
          <a:xfrm>
            <a:off x="8915400" y="308152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of pages of DSES training material for this stack</a:t>
            </a:r>
            <a:endParaRPr lang="en-US" sz="1150" dirty="0"/>
          </a:p>
        </p:txBody>
      </p:sp>
      <p:sp>
        <p:nvSpPr>
          <p:cNvPr id="31" name="Shape 28"/>
          <p:cNvSpPr/>
          <p:nvPr/>
        </p:nvSpPr>
        <p:spPr>
          <a:xfrm>
            <a:off x="8778240" y="3950208"/>
            <a:ext cx="2834640" cy="1481328"/>
          </a:xfrm>
          <a:prstGeom prst="roundRect">
            <a:avLst>
              <a:gd name="adj" fmla="val 4938"/>
            </a:avLst>
          </a:prstGeom>
          <a:solidFill>
            <a:srgbClr val="EFF4F7"/>
          </a:solidFill>
          <a:ln w="9525">
            <a:solidFill>
              <a:srgbClr val="D7E3EA"/>
            </a:solidFill>
            <a:prstDash val="solid"/>
          </a:ln>
        </p:spPr>
      </p:sp>
      <p:sp>
        <p:nvSpPr>
          <p:cNvPr id="32" name="Text 29"/>
          <p:cNvSpPr/>
          <p:nvPr/>
        </p:nvSpPr>
        <p:spPr>
          <a:xfrm>
            <a:off x="8915400" y="4059936"/>
            <a:ext cx="2560320"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a:t>
            </a:r>
            <a:endParaRPr lang="en-US" sz="3400" dirty="0"/>
          </a:p>
        </p:txBody>
      </p:sp>
      <p:sp>
        <p:nvSpPr>
          <p:cNvPr id="33" name="Text 30"/>
          <p:cNvSpPr/>
          <p:nvPr/>
        </p:nvSpPr>
        <p:spPr>
          <a:xfrm>
            <a:off x="8915400" y="481888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members who could run an observation end to end</a:t>
            </a:r>
            <a:endParaRPr lang="en-US" sz="1150" dirty="0"/>
          </a:p>
        </p:txBody>
      </p:sp>
      <p:sp>
        <p:nvSpPr>
          <p:cNvPr id="34" name="Text 31"/>
          <p:cNvSpPr/>
          <p:nvPr/>
        </p:nvSpPr>
        <p:spPr>
          <a:xfrm>
            <a:off x="8778240" y="5596128"/>
            <a:ext cx="2834640" cy="640080"/>
          </a:xfrm>
          <a:prstGeom prst="rect">
            <a:avLst/>
          </a:prstGeom>
          <a:noFill/>
          <a:ln/>
        </p:spPr>
        <p:txBody>
          <a:bodyPr wrap="square" lIns="0" tIns="0" rIns="0" bIns="0" rtlCol="0" anchor="t"/>
          <a:lstStyle/>
          <a:p>
            <a:pPr indent="0" marL="0">
              <a:buNone/>
            </a:pPr>
            <a:r>
              <a:rPr lang="en-US" sz="1150" i="1" dirty="0">
                <a:solidFill>
                  <a:srgbClr val="6B7A82"/>
                </a:solidFill>
                <a:latin typeface="Calibri" pitchFamily="34" charset="0"/>
                <a:ea typeface="Calibri" pitchFamily="34" charset="-122"/>
                <a:cs typeface="Calibri" pitchFamily="34" charset="-120"/>
              </a:rPr>
              <a:t>First-rate results — but a learning curve that kept everyone else watching.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ANSWER</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new stack — much simpler</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4</a:t>
            </a:r>
            <a:endParaRPr lang="en-US" sz="850" dirty="0"/>
          </a:p>
        </p:txBody>
      </p:sp>
      <p:sp>
        <p:nvSpPr>
          <p:cNvPr id="7" name="Text 4"/>
          <p:cNvSpPr/>
          <p:nvPr/>
        </p:nvSpPr>
        <p:spPr>
          <a:xfrm>
            <a:off x="566928" y="1444752"/>
            <a:ext cx="7772400" cy="3657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The same observation today takes two pieces:</a:t>
            </a:r>
            <a:endParaRPr lang="en-US" sz="1400" dirty="0"/>
          </a:p>
        </p:txBody>
      </p:sp>
      <p:sp>
        <p:nvSpPr>
          <p:cNvPr id="8" name="Text 5"/>
          <p:cNvSpPr/>
          <p:nvPr/>
        </p:nvSpPr>
        <p:spPr>
          <a:xfrm>
            <a:off x="566928" y="2496312"/>
            <a:ext cx="3520440" cy="274320"/>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ACQUISITION — ON SITE</a:t>
            </a:r>
            <a:endParaRPr lang="en-US" sz="1000" dirty="0"/>
          </a:p>
        </p:txBody>
      </p:sp>
      <p:sp>
        <p:nvSpPr>
          <p:cNvPr id="9" name="Shape 6"/>
          <p:cNvSpPr/>
          <p:nvPr/>
        </p:nvSpPr>
        <p:spPr>
          <a:xfrm>
            <a:off x="566928" y="2880360"/>
            <a:ext cx="3520440" cy="1737360"/>
          </a:xfrm>
          <a:prstGeom prst="roundRect">
            <a:avLst>
              <a:gd name="adj" fmla="val 4211"/>
            </a:avLst>
          </a:prstGeom>
          <a:solidFill>
            <a:srgbClr val="EFF4F7"/>
          </a:solidFill>
          <a:ln w="9525">
            <a:solidFill>
              <a:srgbClr val="D7E3EA"/>
            </a:solidFill>
            <a:prstDash val="solid"/>
          </a:ln>
        </p:spPr>
      </p:sp>
      <p:sp>
        <p:nvSpPr>
          <p:cNvPr id="10" name="Text 7"/>
          <p:cNvSpPr/>
          <p:nvPr/>
        </p:nvSpPr>
        <p:spPr>
          <a:xfrm>
            <a:off x="768096" y="3026664"/>
            <a:ext cx="3118104" cy="310896"/>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DSES Spectrum Analyzer</a:t>
            </a:r>
            <a:endParaRPr lang="en-US" sz="1450" dirty="0"/>
          </a:p>
        </p:txBody>
      </p:sp>
      <p:sp>
        <p:nvSpPr>
          <p:cNvPr id="11" name="Text 8"/>
          <p:cNvSpPr/>
          <p:nvPr/>
        </p:nvSpPr>
        <p:spPr>
          <a:xfrm>
            <a:off x="768096" y="3392424"/>
            <a:ext cx="3118104" cy="109728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plan, survey, verify, record — one application on one laptop (Windows / macOS / Linux)</a:t>
            </a:r>
            <a:endParaRPr lang="en-US" sz="1150" dirty="0"/>
          </a:p>
        </p:txBody>
      </p:sp>
      <p:sp>
        <p:nvSpPr>
          <p:cNvPr id="12" name="Shape 9"/>
          <p:cNvSpPr/>
          <p:nvPr/>
        </p:nvSpPr>
        <p:spPr>
          <a:xfrm>
            <a:off x="4251960" y="3749040"/>
            <a:ext cx="594360" cy="0"/>
          </a:xfrm>
          <a:prstGeom prst="line">
            <a:avLst/>
          </a:prstGeom>
          <a:noFill/>
          <a:ln w="31750">
            <a:solidFill>
              <a:srgbClr val="156082"/>
            </a:solidFill>
            <a:prstDash val="solid"/>
            <a:tailEnd type="triangle"/>
          </a:ln>
        </p:spPr>
      </p:sp>
      <p:sp>
        <p:nvSpPr>
          <p:cNvPr id="13" name="Text 10"/>
          <p:cNvSpPr/>
          <p:nvPr/>
        </p:nvSpPr>
        <p:spPr>
          <a:xfrm>
            <a:off x="5010912" y="2496312"/>
            <a:ext cx="3520440" cy="274320"/>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ANALYSIS — ANY MACHINE</a:t>
            </a:r>
            <a:endParaRPr lang="en-US" sz="1000" dirty="0"/>
          </a:p>
        </p:txBody>
      </p:sp>
      <p:sp>
        <p:nvSpPr>
          <p:cNvPr id="14" name="Shape 11"/>
          <p:cNvSpPr/>
          <p:nvPr/>
        </p:nvSpPr>
        <p:spPr>
          <a:xfrm>
            <a:off x="5010912" y="2880360"/>
            <a:ext cx="3520440" cy="1737360"/>
          </a:xfrm>
          <a:prstGeom prst="roundRect">
            <a:avLst>
              <a:gd name="adj" fmla="val 4211"/>
            </a:avLst>
          </a:prstGeom>
          <a:solidFill>
            <a:srgbClr val="EFF4F7"/>
          </a:solidFill>
          <a:ln w="9525">
            <a:solidFill>
              <a:srgbClr val="D7E3EA"/>
            </a:solidFill>
            <a:prstDash val="solid"/>
          </a:ln>
        </p:spPr>
      </p:sp>
      <p:sp>
        <p:nvSpPr>
          <p:cNvPr id="15" name="Text 12"/>
          <p:cNvSpPr/>
          <p:nvPr/>
        </p:nvSpPr>
        <p:spPr>
          <a:xfrm>
            <a:off x="5212080" y="3026664"/>
            <a:ext cx="3118104" cy="310896"/>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PRESTO v6.0.0 + TEMPO2</a:t>
            </a:r>
            <a:endParaRPr lang="en-US" sz="1450" dirty="0"/>
          </a:p>
        </p:txBody>
      </p:sp>
      <p:sp>
        <p:nvSpPr>
          <p:cNvPr id="16" name="Text 13"/>
          <p:cNvSpPr/>
          <p:nvPr/>
        </p:nvSpPr>
        <p:spPr>
          <a:xfrm>
            <a:off x="5212080" y="3392424"/>
            <a:ext cx="3118104" cy="109728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the professional analysis suite, installed by one DSES build script — v6 barycenters in-process, so classic TEMPO is no longer needed</a:t>
            </a:r>
            <a:endParaRPr lang="en-US" sz="1150" dirty="0"/>
          </a:p>
        </p:txBody>
      </p:sp>
      <p:sp>
        <p:nvSpPr>
          <p:cNvPr id="17" name="Shape 14"/>
          <p:cNvSpPr/>
          <p:nvPr/>
        </p:nvSpPr>
        <p:spPr>
          <a:xfrm>
            <a:off x="566928" y="5760720"/>
            <a:ext cx="7964424" cy="566928"/>
          </a:xfrm>
          <a:prstGeom prst="roundRect">
            <a:avLst>
              <a:gd name="adj" fmla="val 12903"/>
            </a:avLst>
          </a:prstGeom>
          <a:solidFill>
            <a:srgbClr val="F7FAFB"/>
          </a:solidFill>
          <a:ln w="9525">
            <a:solidFill>
              <a:srgbClr val="E5EDF1"/>
            </a:solidFill>
            <a:prstDash val="solid"/>
          </a:ln>
        </p:spPr>
      </p:sp>
      <p:sp>
        <p:nvSpPr>
          <p:cNvPr id="18" name="Text 15"/>
          <p:cNvSpPr/>
          <p:nvPr/>
        </p:nvSpPr>
        <p:spPr>
          <a:xfrm>
            <a:off x="768096" y="5760720"/>
            <a:ext cx="7562088" cy="566928"/>
          </a:xfrm>
          <a:prstGeom prst="rect">
            <a:avLst/>
          </a:prstGeom>
          <a:noFill/>
          <a:ln/>
        </p:spPr>
        <p:txBody>
          <a:bodyPr wrap="square" lIns="0" tIns="0" rIns="0" bIns="0" rtlCol="0" anchor="ctr"/>
          <a:lstStyle/>
          <a:p>
            <a:pPr indent="0" marL="0">
              <a:buNone/>
            </a:pPr>
            <a:r>
              <a:rPr lang="en-US" sz="1150" b="1" dirty="0">
                <a:solidFill>
                  <a:srgbClr val="6B7A82"/>
                </a:solidFill>
                <a:latin typeface="Calibri" pitchFamily="34" charset="0"/>
                <a:ea typeface="Calibri" pitchFamily="34" charset="-122"/>
                <a:cs typeface="Calibri" pitchFamily="34" charset="-120"/>
              </a:rPr>
              <a:t>That’s the whole list</a:t>
            </a:r>
            <a:pPr indent="0" marL="0">
              <a:buNone/>
            </a:pPr>
            <a:r>
              <a:rPr lang="en-US" sz="1150" dirty="0">
                <a:solidFill>
                  <a:srgbClr val="93A2AA"/>
                </a:solidFill>
                <a:latin typeface="Calibri" pitchFamily="34" charset="0"/>
                <a:ea typeface="Calibri" pitchFamily="34" charset="-122"/>
                <a:cs typeface="Calibri" pitchFamily="34" charset="-120"/>
              </a:rPr>
              <a:t>  —  no Wine, no custom flowgraphs, no hand-edited configuration files</a:t>
            </a:r>
            <a:endParaRPr lang="en-US" sz="1150" dirty="0"/>
          </a:p>
        </p:txBody>
      </p:sp>
      <p:sp>
        <p:nvSpPr>
          <p:cNvPr id="19" name="Shape 16"/>
          <p:cNvSpPr/>
          <p:nvPr/>
        </p:nvSpPr>
        <p:spPr>
          <a:xfrm>
            <a:off x="8778240" y="2212848"/>
            <a:ext cx="2834640" cy="1481328"/>
          </a:xfrm>
          <a:prstGeom prst="roundRect">
            <a:avLst>
              <a:gd name="adj" fmla="val 4938"/>
            </a:avLst>
          </a:prstGeom>
          <a:solidFill>
            <a:srgbClr val="EFF4F7"/>
          </a:solidFill>
          <a:ln w="9525">
            <a:solidFill>
              <a:srgbClr val="D7E3EA"/>
            </a:solidFill>
            <a:prstDash val="solid"/>
          </a:ln>
        </p:spPr>
      </p:sp>
      <p:sp>
        <p:nvSpPr>
          <p:cNvPr id="20" name="Text 17"/>
          <p:cNvSpPr/>
          <p:nvPr/>
        </p:nvSpPr>
        <p:spPr>
          <a:xfrm>
            <a:off x="8915400" y="2322576"/>
            <a:ext cx="2560320"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a:t>
            </a:r>
            <a:endParaRPr lang="en-US" sz="3400" dirty="0"/>
          </a:p>
        </p:txBody>
      </p:sp>
      <p:sp>
        <p:nvSpPr>
          <p:cNvPr id="21" name="Text 18"/>
          <p:cNvSpPr/>
          <p:nvPr/>
        </p:nvSpPr>
        <p:spPr>
          <a:xfrm>
            <a:off x="8915400" y="308152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pieces in the whole chain — acquisition and analysis</a:t>
            </a:r>
            <a:endParaRPr lang="en-US" sz="1150" dirty="0"/>
          </a:p>
        </p:txBody>
      </p:sp>
      <p:sp>
        <p:nvSpPr>
          <p:cNvPr id="22" name="Shape 19"/>
          <p:cNvSpPr/>
          <p:nvPr/>
        </p:nvSpPr>
        <p:spPr>
          <a:xfrm>
            <a:off x="8778240" y="3950208"/>
            <a:ext cx="2834640" cy="1481328"/>
          </a:xfrm>
          <a:prstGeom prst="roundRect">
            <a:avLst>
              <a:gd name="adj" fmla="val 4938"/>
            </a:avLst>
          </a:prstGeom>
          <a:solidFill>
            <a:srgbClr val="EFF4F7"/>
          </a:solidFill>
          <a:ln w="9525">
            <a:solidFill>
              <a:srgbClr val="D7E3EA"/>
            </a:solidFill>
            <a:prstDash val="solid"/>
          </a:ln>
        </p:spPr>
      </p:sp>
      <p:sp>
        <p:nvSpPr>
          <p:cNvPr id="23" name="Text 20"/>
          <p:cNvSpPr/>
          <p:nvPr/>
        </p:nvSpPr>
        <p:spPr>
          <a:xfrm>
            <a:off x="8915400" y="4059936"/>
            <a:ext cx="2560320"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1</a:t>
            </a:r>
            <a:endParaRPr lang="en-US" sz="3400" dirty="0"/>
          </a:p>
        </p:txBody>
      </p:sp>
      <p:sp>
        <p:nvSpPr>
          <p:cNvPr id="24" name="Text 21"/>
          <p:cNvSpPr/>
          <p:nvPr/>
        </p:nvSpPr>
        <p:spPr>
          <a:xfrm>
            <a:off x="8915400" y="481888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build script installs the analysis stack, per platform</a:t>
            </a:r>
            <a:endParaRPr lang="en-US" sz="1150" dirty="0"/>
          </a:p>
        </p:txBody>
      </p:sp>
      <p:sp>
        <p:nvSpPr>
          <p:cNvPr id="25" name="Text 22"/>
          <p:cNvSpPr/>
          <p:nvPr/>
        </p:nvSpPr>
        <p:spPr>
          <a:xfrm>
            <a:off x="8778240" y="5596128"/>
            <a:ext cx="2834640" cy="640080"/>
          </a:xfrm>
          <a:prstGeom prst="rect">
            <a:avLst/>
          </a:prstGeom>
          <a:noFill/>
          <a:ln/>
        </p:spPr>
        <p:txBody>
          <a:bodyPr wrap="square" lIns="0" tIns="0" rIns="0" bIns="0" rtlCol="0" anchor="t"/>
          <a:lstStyle/>
          <a:p>
            <a:pPr indent="0" marL="0">
              <a:buNone/>
            </a:pPr>
            <a:r>
              <a:rPr lang="en-US" sz="1150" i="1" dirty="0">
                <a:solidFill>
                  <a:srgbClr val="6B7A82"/>
                </a:solidFill>
                <a:latin typeface="Calibri" pitchFamily="34" charset="0"/>
                <a:ea typeface="Calibri" pitchFamily="34" charset="-122"/>
                <a:cs typeface="Calibri" pitchFamily="34" charset="-120"/>
              </a:rPr>
              <a:t>Same professional-quality results — on a far gentler learning curve.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INSTRUMENT</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One instrument instead of a toolchain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5</a:t>
            </a:r>
            <a:endParaRPr lang="en-US" sz="850" dirty="0"/>
          </a:p>
        </p:txBody>
      </p:sp>
      <p:sp>
        <p:nvSpPr>
          <p:cNvPr id="7" name="Text 4"/>
          <p:cNvSpPr/>
          <p:nvPr/>
        </p:nvSpPr>
        <p:spPr>
          <a:xfrm>
            <a:off x="566928" y="1444752"/>
            <a:ext cx="7406640" cy="868680"/>
          </a:xfrm>
          <a:prstGeom prst="rect">
            <a:avLst/>
          </a:prstGeom>
          <a:noFill/>
          <a:ln/>
        </p:spPr>
        <p:txBody>
          <a:bodyPr wrap="square" lIns="0" tIns="0" rIns="0" bIns="0" rtlCol="0" anchor="ctr"/>
          <a:lstStyle/>
          <a:p>
            <a:pPr indent="0" marL="0">
              <a:buNone/>
            </a:pPr>
            <a:r>
              <a:rPr lang="en-US" sz="1400" b="1" dirty="0">
                <a:solidFill>
                  <a:srgbClr val="0A2F40"/>
                </a:solidFill>
                <a:latin typeface="Calibri" pitchFamily="34" charset="0"/>
                <a:ea typeface="Calibri" pitchFamily="34" charset="-122"/>
                <a:cs typeface="Calibri" pitchFamily="34" charset="-120"/>
              </a:rPr>
              <a:t>The DSES Spectrum Analyzer</a:t>
            </a:r>
            <a:pPr indent="0" marL="0">
              <a:buNone/>
            </a:pPr>
            <a:r>
              <a:rPr lang="en-US" sz="1400" dirty="0">
                <a:solidFill>
                  <a:srgbClr val="24343C"/>
                </a:solidFill>
                <a:latin typeface="Calibri" pitchFamily="34" charset="0"/>
                <a:ea typeface="Calibri" pitchFamily="34" charset="-122"/>
                <a:cs typeface="Calibri" pitchFamily="34" charset="-120"/>
              </a:rPr>
              <a:t> — a cross-platform application written within the Society. Born as an RFI-survey instrument for the Haswell site, it has grown into a radio-astronomy data-acquisition system.</a:t>
            </a:r>
            <a:endParaRPr lang="en-US" sz="1400" dirty="0"/>
          </a:p>
        </p:txBody>
      </p:sp>
      <p:sp>
        <p:nvSpPr>
          <p:cNvPr id="8" name="Text 5"/>
          <p:cNvSpPr/>
          <p:nvPr/>
        </p:nvSpPr>
        <p:spPr>
          <a:xfrm>
            <a:off x="566928" y="2487168"/>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1133856" y="2441448"/>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Plan  —  </a:t>
            </a:r>
            <a:pPr indent="0" marL="0">
              <a:buNone/>
            </a:pPr>
            <a:r>
              <a:rPr lang="en-US" sz="1350" dirty="0">
                <a:solidFill>
                  <a:srgbClr val="24343C"/>
                </a:solidFill>
                <a:latin typeface="Calibri" pitchFamily="34" charset="0"/>
                <a:ea typeface="Calibri" pitchFamily="34" charset="-122"/>
                <a:cs typeface="Calibri" pitchFamily="34" charset="-120"/>
              </a:rPr>
              <a:t>live altitude/azimuth for catalog pulsars, computed from the site</a:t>
            </a:r>
            <a:endParaRPr lang="en-US" sz="1350" dirty="0"/>
          </a:p>
        </p:txBody>
      </p:sp>
      <p:sp>
        <p:nvSpPr>
          <p:cNvPr id="10" name="Text 7"/>
          <p:cNvSpPr/>
          <p:nvPr/>
        </p:nvSpPr>
        <p:spPr>
          <a:xfrm>
            <a:off x="566928" y="3236976"/>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33856" y="3191256"/>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Survey  —  </a:t>
            </a:r>
            <a:pPr indent="0" marL="0">
              <a:buNone/>
            </a:pPr>
            <a:r>
              <a:rPr lang="en-US" sz="1350" dirty="0">
                <a:solidFill>
                  <a:srgbClr val="24343C"/>
                </a:solidFill>
                <a:latin typeface="Calibri" pitchFamily="34" charset="0"/>
                <a:ea typeface="Calibri" pitchFamily="34" charset="-122"/>
                <a:cs typeface="Calibri" pitchFamily="34" charset="-120"/>
              </a:rPr>
              <a:t>real-time spectrum and waterfall; wide-band Sweep mode for RFI surveys</a:t>
            </a:r>
            <a:endParaRPr lang="en-US" sz="1350" dirty="0"/>
          </a:p>
        </p:txBody>
      </p:sp>
      <p:sp>
        <p:nvSpPr>
          <p:cNvPr id="12" name="Text 9"/>
          <p:cNvSpPr/>
          <p:nvPr/>
        </p:nvSpPr>
        <p:spPr>
          <a:xfrm>
            <a:off x="566928" y="3986784"/>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0"/>
          <p:cNvSpPr/>
          <p:nvPr/>
        </p:nvSpPr>
        <p:spPr>
          <a:xfrm>
            <a:off x="1133856" y="3941064"/>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Verify  —  </a:t>
            </a:r>
            <a:pPr indent="0" marL="0">
              <a:buNone/>
            </a:pPr>
            <a:r>
              <a:rPr lang="en-US" sz="1350" dirty="0">
                <a:solidFill>
                  <a:srgbClr val="24343C"/>
                </a:solidFill>
                <a:latin typeface="Calibri" pitchFamily="34" charset="0"/>
                <a:ea typeface="Calibri" pitchFamily="34" charset="-122"/>
                <a:cs typeface="Calibri" pitchFamily="34" charset="-120"/>
              </a:rPr>
              <a:t>confirm the RF path is alive and clean before committing to a recording</a:t>
            </a:r>
            <a:endParaRPr lang="en-US" sz="1350" dirty="0"/>
          </a:p>
        </p:txBody>
      </p:sp>
      <p:sp>
        <p:nvSpPr>
          <p:cNvPr id="14" name="Text 11"/>
          <p:cNvSpPr/>
          <p:nvPr/>
        </p:nvSpPr>
        <p:spPr>
          <a:xfrm>
            <a:off x="566928" y="4736592"/>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2"/>
          <p:cNvSpPr/>
          <p:nvPr/>
        </p:nvSpPr>
        <p:spPr>
          <a:xfrm>
            <a:off x="1133856" y="4690872"/>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Record  —  </a:t>
            </a:r>
            <a:pPr indent="0" marL="0">
              <a:buNone/>
            </a:pPr>
            <a:r>
              <a:rPr lang="en-US" sz="1350" dirty="0">
                <a:solidFill>
                  <a:srgbClr val="24343C"/>
                </a:solidFill>
                <a:latin typeface="Calibri" pitchFamily="34" charset="0"/>
                <a:ea typeface="Calibri" pitchFamily="34" charset="-122"/>
                <a:cs typeface="Calibri" pitchFamily="34" charset="-120"/>
              </a:rPr>
              <a:t>industry-standard SIGPROC .fil files — source name and RA/Dec stamped in the header</a:t>
            </a:r>
            <a:endParaRPr lang="en-US" sz="1350" dirty="0"/>
          </a:p>
        </p:txBody>
      </p:sp>
      <p:sp>
        <p:nvSpPr>
          <p:cNvPr id="16" name="Text 13"/>
          <p:cNvSpPr/>
          <p:nvPr/>
        </p:nvSpPr>
        <p:spPr>
          <a:xfrm>
            <a:off x="566928" y="5486400"/>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4"/>
          <p:cNvSpPr/>
          <p:nvPr/>
        </p:nvSpPr>
        <p:spPr>
          <a:xfrm>
            <a:off x="1133856" y="5440680"/>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Update  —  </a:t>
            </a:r>
            <a:pPr indent="0" marL="0">
              <a:buNone/>
            </a:pPr>
            <a:r>
              <a:rPr lang="en-US" sz="1350" dirty="0">
                <a:solidFill>
                  <a:srgbClr val="24343C"/>
                </a:solidFill>
                <a:latin typeface="Calibri" pitchFamily="34" charset="0"/>
                <a:ea typeface="Calibri" pitchFamily="34" charset="-122"/>
                <a:cs typeface="Calibri" pitchFamily="34" charset="-120"/>
              </a:rPr>
              <a:t>built-in updater keeps observatory and member machines on the released baseline</a:t>
            </a:r>
            <a:endParaRPr lang="en-US" sz="1350" dirty="0"/>
          </a:p>
        </p:txBody>
      </p:sp>
      <p:sp>
        <p:nvSpPr>
          <p:cNvPr id="18" name="Shape 15"/>
          <p:cNvSpPr/>
          <p:nvPr/>
        </p:nvSpPr>
        <p:spPr>
          <a:xfrm>
            <a:off x="8549640" y="1481328"/>
            <a:ext cx="3063240" cy="3977640"/>
          </a:xfrm>
          <a:prstGeom prst="roundRect">
            <a:avLst>
              <a:gd name="adj" fmla="val 2388"/>
            </a:avLst>
          </a:prstGeom>
          <a:solidFill>
            <a:srgbClr val="0A2F40"/>
          </a:solidFill>
          <a:ln w="9525">
            <a:solidFill>
              <a:srgbClr val="0A2F40"/>
            </a:solidFill>
            <a:prstDash val="solid"/>
          </a:ln>
        </p:spPr>
      </p:sp>
      <p:pic>
        <p:nvPicPr>
          <p:cNvPr id="19" name="Image 1" descr="C:\Users\rick\Documents\DSES\Science\Spectrum_Analyzer_PY\icons\dses_sa.png">    </p:cNvPr>
          <p:cNvPicPr>
            <a:picLocks noChangeAspect="1"/>
          </p:cNvPicPr>
          <p:nvPr/>
        </p:nvPicPr>
        <p:blipFill>
          <a:blip r:embed="rId2"/>
          <a:stretch>
            <a:fillRect/>
          </a:stretch>
        </p:blipFill>
        <p:spPr>
          <a:xfrm>
            <a:off x="9441180" y="1828800"/>
            <a:ext cx="1280160" cy="1280160"/>
          </a:xfrm>
          <a:prstGeom prst="ellipse">
            <a:avLst/>
          </a:prstGeom>
        </p:spPr>
      </p:pic>
      <p:sp>
        <p:nvSpPr>
          <p:cNvPr id="20" name="Text 16"/>
          <p:cNvSpPr/>
          <p:nvPr/>
        </p:nvSpPr>
        <p:spPr>
          <a:xfrm>
            <a:off x="8732520" y="3291840"/>
            <a:ext cx="26974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DSES Spectrum Analyzer</a:t>
            </a:r>
            <a:endParaRPr lang="en-US" sz="1500" dirty="0"/>
          </a:p>
        </p:txBody>
      </p:sp>
      <p:sp>
        <p:nvSpPr>
          <p:cNvPr id="21" name="Text 17"/>
          <p:cNvSpPr/>
          <p:nvPr/>
        </p:nvSpPr>
        <p:spPr>
          <a:xfrm>
            <a:off x="8732520" y="3822192"/>
            <a:ext cx="2697480" cy="548640"/>
          </a:xfrm>
          <a:prstGeom prst="rect">
            <a:avLst/>
          </a:prstGeom>
          <a:noFill/>
          <a:ln/>
        </p:spPr>
        <p:txBody>
          <a:bodyPr wrap="square" lIns="0" tIns="0" rIns="0" bIns="0" rtlCol="0" anchor="ctr"/>
          <a:lstStyle/>
          <a:p>
            <a:pPr algn="ctr" indent="0" marL="0">
              <a:buNone/>
            </a:pPr>
            <a:r>
              <a:rPr lang="en-US" sz="1150" dirty="0">
                <a:solidFill>
                  <a:srgbClr val="B8D2DE"/>
                </a:solidFill>
                <a:latin typeface="Calibri" pitchFamily="34" charset="0"/>
                <a:ea typeface="Calibri" pitchFamily="34" charset="-122"/>
                <a:cs typeface="Calibri" pitchFamily="34" charset="-120"/>
              </a:rPr>
              <a:t>drives the Ettus USRP B210</a:t>
            </a:r>
            <a:endParaRPr lang="en-US" sz="1150" dirty="0"/>
          </a:p>
          <a:p>
            <a:pPr algn="ctr" indent="0" marL="0">
              <a:buNone/>
            </a:pPr>
            <a:r>
              <a:rPr lang="en-US" sz="1150" dirty="0">
                <a:solidFill>
                  <a:srgbClr val="B8D2DE"/>
                </a:solidFill>
                <a:latin typeface="Calibri" pitchFamily="34" charset="0"/>
                <a:ea typeface="Calibri" pitchFamily="34" charset="-122"/>
                <a:cs typeface="Calibri" pitchFamily="34" charset="-120"/>
              </a:rPr>
              <a:t>and other SDRs</a:t>
            </a:r>
            <a:endParaRPr lang="en-US" sz="1150" dirty="0"/>
          </a:p>
        </p:txBody>
      </p:sp>
      <p:sp>
        <p:nvSpPr>
          <p:cNvPr id="22" name="Text 18"/>
          <p:cNvSpPr/>
          <p:nvPr/>
        </p:nvSpPr>
        <p:spPr>
          <a:xfrm>
            <a:off x="8732520" y="4956048"/>
            <a:ext cx="2697480" cy="274320"/>
          </a:xfrm>
          <a:prstGeom prst="rect">
            <a:avLst/>
          </a:prstGeom>
          <a:noFill/>
          <a:ln/>
        </p:spPr>
        <p:txBody>
          <a:bodyPr wrap="square" lIns="0" tIns="0" rIns="0" bIns="0" rtlCol="0" anchor="ctr"/>
          <a:lstStyle/>
          <a:p>
            <a:pPr algn="ctr" indent="0" marL="0">
              <a:buNone/>
            </a:pPr>
            <a:r>
              <a:rPr lang="en-US" sz="1050" dirty="0">
                <a:solidFill>
                  <a:srgbClr val="D99C55"/>
                </a:solidFill>
                <a:latin typeface="Calibri" pitchFamily="34" charset="0"/>
                <a:ea typeface="Calibri" pitchFamily="34" charset="-122"/>
                <a:cs typeface="Calibri" pitchFamily="34" charset="-120"/>
              </a:rPr>
              <a:t>v1.1.6 — released July 12, 2026</a:t>
            </a:r>
            <a:endParaRPr lang="en-US" sz="1050" dirty="0"/>
          </a:p>
        </p:txBody>
      </p:sp>
      <p:sp>
        <p:nvSpPr>
          <p:cNvPr id="23" name="Text 19"/>
          <p:cNvSpPr/>
          <p:nvPr/>
        </p:nvSpPr>
        <p:spPr>
          <a:xfrm>
            <a:off x="8549640" y="5687568"/>
            <a:ext cx="3063240" cy="548640"/>
          </a:xfrm>
          <a:prstGeom prst="rect">
            <a:avLst/>
          </a:prstGeom>
          <a:noFill/>
          <a:ln/>
        </p:spPr>
        <p:txBody>
          <a:bodyPr wrap="square" lIns="0" tIns="0" rIns="0" bIns="0" rtlCol="0" anchor="t"/>
          <a:lstStyle/>
          <a:p>
            <a:pPr algn="ctr" indent="0" marL="0">
              <a:buNone/>
            </a:pPr>
            <a:r>
              <a:rPr lang="en-US" sz="1100" dirty="0">
                <a:solidFill>
                  <a:srgbClr val="6B7A82"/>
                </a:solidFill>
                <a:latin typeface="Calibri" pitchFamily="34" charset="0"/>
                <a:ea typeface="Calibri" pitchFamily="34" charset="-122"/>
                <a:cs typeface="Calibri" pitchFamily="34" charset="-120"/>
              </a:rPr>
              <a:t>Windows  •  macOS  •  Linux (incl. Raspberry Pi 5 field box)</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EXPERIMENT — JULY 11, 2026</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Put non-experts in front of the dish</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6</a:t>
            </a:r>
            <a:endParaRPr lang="en-US" sz="850" dirty="0"/>
          </a:p>
        </p:txBody>
      </p:sp>
      <p:sp>
        <p:nvSpPr>
          <p:cNvPr id="7" name="Shape 4"/>
          <p:cNvSpPr/>
          <p:nvPr/>
        </p:nvSpPr>
        <p:spPr>
          <a:xfrm>
            <a:off x="566928" y="1481328"/>
            <a:ext cx="11055096" cy="1371600"/>
          </a:xfrm>
          <a:prstGeom prst="roundRect">
            <a:avLst>
              <a:gd name="adj" fmla="val 5333"/>
            </a:avLst>
          </a:prstGeom>
          <a:solidFill>
            <a:srgbClr val="EFF4F7"/>
          </a:solidFill>
          <a:ln w="9525">
            <a:solidFill>
              <a:srgbClr val="D7E3EA"/>
            </a:solidFill>
            <a:prstDash val="solid"/>
          </a:ln>
        </p:spPr>
      </p:sp>
      <p:sp>
        <p:nvSpPr>
          <p:cNvPr id="8" name="Text 5"/>
          <p:cNvSpPr/>
          <p:nvPr/>
        </p:nvSpPr>
        <p:spPr>
          <a:xfrm>
            <a:off x="886968" y="1481328"/>
            <a:ext cx="10424160" cy="1371600"/>
          </a:xfrm>
          <a:prstGeom prst="rect">
            <a:avLst/>
          </a:prstGeom>
          <a:noFill/>
          <a:ln/>
        </p:spPr>
        <p:txBody>
          <a:bodyPr wrap="square" lIns="0" tIns="0" rIns="0" bIns="0" rtlCol="0" anchor="ctr"/>
          <a:lstStyle/>
          <a:p>
            <a:pPr indent="0" marL="0">
              <a:buNone/>
            </a:pPr>
            <a:r>
              <a:rPr lang="en-US" sz="1800" b="1" i="1" dirty="0">
                <a:solidFill>
                  <a:srgbClr val="156082"/>
                </a:solidFill>
                <a:latin typeface="Cambria" pitchFamily="34" charset="0"/>
                <a:ea typeface="Cambria" pitchFamily="34" charset="-122"/>
                <a:cs typeface="Cambria" pitchFamily="34" charset="-120"/>
              </a:rPr>
              <a:t>The question:  </a:t>
            </a:r>
            <a:pPr indent="0" marL="0">
              <a:buNone/>
            </a:pPr>
            <a:r>
              <a:rPr lang="en-US" sz="1800" i="1" dirty="0">
                <a:solidFill>
                  <a:srgbClr val="0A2F40"/>
                </a:solidFill>
                <a:latin typeface="Cambria" pitchFamily="34" charset="0"/>
                <a:ea typeface="Cambria" pitchFamily="34" charset="-122"/>
                <a:cs typeface="Cambria" pitchFamily="34" charset="-120"/>
              </a:rPr>
              <a:t>can members who are not pulsar-processing experts plan an observation, capture pulsar data, and process it into professional-quality reports?</a:t>
            </a:r>
            <a:endParaRPr lang="en-US" sz="1800" dirty="0"/>
          </a:p>
        </p:txBody>
      </p:sp>
      <p:sp>
        <p:nvSpPr>
          <p:cNvPr id="9" name="Shape 6"/>
          <p:cNvSpPr/>
          <p:nvPr/>
        </p:nvSpPr>
        <p:spPr>
          <a:xfrm>
            <a:off x="566928" y="3246120"/>
            <a:ext cx="3557016" cy="1417320"/>
          </a:xfrm>
          <a:prstGeom prst="roundRect">
            <a:avLst>
              <a:gd name="adj" fmla="val 5161"/>
            </a:avLst>
          </a:prstGeom>
          <a:solidFill>
            <a:srgbClr val="EFF4F7"/>
          </a:solidFill>
          <a:ln w="9525">
            <a:solidFill>
              <a:srgbClr val="D7E3EA"/>
            </a:solidFill>
            <a:prstDash val="solid"/>
          </a:ln>
        </p:spPr>
      </p:sp>
      <p:sp>
        <p:nvSpPr>
          <p:cNvPr id="10" name="Text 7"/>
          <p:cNvSpPr/>
          <p:nvPr/>
        </p:nvSpPr>
        <p:spPr>
          <a:xfrm>
            <a:off x="82296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RU</a:t>
            </a:r>
            <a:endParaRPr lang="en-US" sz="1600" dirty="0"/>
          </a:p>
        </p:txBody>
      </p:sp>
      <p:sp>
        <p:nvSpPr>
          <p:cNvPr id="11" name="Text 8"/>
          <p:cNvSpPr/>
          <p:nvPr/>
        </p:nvSpPr>
        <p:spPr>
          <a:xfrm>
            <a:off x="166420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Ray Uberecken</a:t>
            </a:r>
            <a:endParaRPr lang="en-US" sz="1450" dirty="0"/>
          </a:p>
        </p:txBody>
      </p:sp>
      <p:sp>
        <p:nvSpPr>
          <p:cNvPr id="12" name="Text 9"/>
          <p:cNvSpPr/>
          <p:nvPr/>
        </p:nvSpPr>
        <p:spPr>
          <a:xfrm>
            <a:off x="166420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AA0L</a:t>
            </a:r>
            <a:endParaRPr lang="en-US" sz="1250" dirty="0"/>
          </a:p>
        </p:txBody>
      </p:sp>
      <p:sp>
        <p:nvSpPr>
          <p:cNvPr id="13" name="Shape 10"/>
          <p:cNvSpPr/>
          <p:nvPr/>
        </p:nvSpPr>
        <p:spPr>
          <a:xfrm>
            <a:off x="4315968" y="3246120"/>
            <a:ext cx="3557016" cy="1417320"/>
          </a:xfrm>
          <a:prstGeom prst="roundRect">
            <a:avLst>
              <a:gd name="adj" fmla="val 5161"/>
            </a:avLst>
          </a:prstGeom>
          <a:solidFill>
            <a:srgbClr val="EFF4F7"/>
          </a:solidFill>
          <a:ln w="9525">
            <a:solidFill>
              <a:srgbClr val="D7E3EA"/>
            </a:solidFill>
            <a:prstDash val="solid"/>
          </a:ln>
        </p:spPr>
      </p:sp>
      <p:sp>
        <p:nvSpPr>
          <p:cNvPr id="14" name="Text 11"/>
          <p:cNvSpPr/>
          <p:nvPr/>
        </p:nvSpPr>
        <p:spPr>
          <a:xfrm>
            <a:off x="457200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AH</a:t>
            </a:r>
            <a:endParaRPr lang="en-US" sz="1600" dirty="0"/>
          </a:p>
        </p:txBody>
      </p:sp>
      <p:sp>
        <p:nvSpPr>
          <p:cNvPr id="15" name="Text 12"/>
          <p:cNvSpPr/>
          <p:nvPr/>
        </p:nvSpPr>
        <p:spPr>
          <a:xfrm>
            <a:off x="541324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Anne Haney</a:t>
            </a:r>
            <a:endParaRPr lang="en-US" sz="1450" dirty="0"/>
          </a:p>
        </p:txBody>
      </p:sp>
      <p:sp>
        <p:nvSpPr>
          <p:cNvPr id="16" name="Text 13"/>
          <p:cNvSpPr/>
          <p:nvPr/>
        </p:nvSpPr>
        <p:spPr>
          <a:xfrm>
            <a:off x="541324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W0ZDW</a:t>
            </a:r>
            <a:endParaRPr lang="en-US" sz="1250" dirty="0"/>
          </a:p>
        </p:txBody>
      </p:sp>
      <p:sp>
        <p:nvSpPr>
          <p:cNvPr id="17" name="Shape 14"/>
          <p:cNvSpPr/>
          <p:nvPr/>
        </p:nvSpPr>
        <p:spPr>
          <a:xfrm>
            <a:off x="8065008" y="3246120"/>
            <a:ext cx="3557016" cy="1417320"/>
          </a:xfrm>
          <a:prstGeom prst="roundRect">
            <a:avLst>
              <a:gd name="adj" fmla="val 5161"/>
            </a:avLst>
          </a:prstGeom>
          <a:solidFill>
            <a:srgbClr val="EFF4F7"/>
          </a:solidFill>
          <a:ln w="9525">
            <a:solidFill>
              <a:srgbClr val="D7E3EA"/>
            </a:solidFill>
            <a:prstDash val="solid"/>
          </a:ln>
        </p:spPr>
      </p:sp>
      <p:sp>
        <p:nvSpPr>
          <p:cNvPr id="18" name="Text 15"/>
          <p:cNvSpPr/>
          <p:nvPr/>
        </p:nvSpPr>
        <p:spPr>
          <a:xfrm>
            <a:off x="832104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RH</a:t>
            </a:r>
            <a:endParaRPr lang="en-US" sz="1600" dirty="0"/>
          </a:p>
        </p:txBody>
      </p:sp>
      <p:sp>
        <p:nvSpPr>
          <p:cNvPr id="19" name="Text 16"/>
          <p:cNvSpPr/>
          <p:nvPr/>
        </p:nvSpPr>
        <p:spPr>
          <a:xfrm>
            <a:off x="916228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Richard Hambly</a:t>
            </a:r>
            <a:endParaRPr lang="en-US" sz="1450" dirty="0"/>
          </a:p>
        </p:txBody>
      </p:sp>
      <p:sp>
        <p:nvSpPr>
          <p:cNvPr id="20" name="Text 17"/>
          <p:cNvSpPr/>
          <p:nvPr/>
        </p:nvSpPr>
        <p:spPr>
          <a:xfrm>
            <a:off x="916228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K0GD</a:t>
            </a:r>
            <a:endParaRPr lang="en-US" sz="1250" dirty="0"/>
          </a:p>
        </p:txBody>
      </p:sp>
      <p:sp>
        <p:nvSpPr>
          <p:cNvPr id="21" name="Shape 18"/>
          <p:cNvSpPr/>
          <p:nvPr/>
        </p:nvSpPr>
        <p:spPr>
          <a:xfrm>
            <a:off x="566928" y="4937760"/>
            <a:ext cx="3557016" cy="1188720"/>
          </a:xfrm>
          <a:prstGeom prst="roundRect">
            <a:avLst>
              <a:gd name="adj" fmla="val 6154"/>
            </a:avLst>
          </a:prstGeom>
          <a:solidFill>
            <a:srgbClr val="FFFFFF"/>
          </a:solidFill>
          <a:ln w="9525">
            <a:solidFill>
              <a:srgbClr val="D7E3EA"/>
            </a:solidFill>
            <a:prstDash val="solid"/>
          </a:ln>
        </p:spPr>
      </p:sp>
      <p:sp>
        <p:nvSpPr>
          <p:cNvPr id="22" name="Text 19"/>
          <p:cNvSpPr/>
          <p:nvPr/>
        </p:nvSpPr>
        <p:spPr>
          <a:xfrm>
            <a:off x="79552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60-ft dish</a:t>
            </a:r>
            <a:endParaRPr lang="en-US" sz="1550" dirty="0"/>
          </a:p>
        </p:txBody>
      </p:sp>
      <p:sp>
        <p:nvSpPr>
          <p:cNvPr id="23" name="Text 20"/>
          <p:cNvSpPr/>
          <p:nvPr/>
        </p:nvSpPr>
        <p:spPr>
          <a:xfrm>
            <a:off x="79552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DSES site, Haswell, Colorado</a:t>
            </a:r>
            <a:endParaRPr lang="en-US" sz="1150" dirty="0"/>
          </a:p>
        </p:txBody>
      </p:sp>
      <p:sp>
        <p:nvSpPr>
          <p:cNvPr id="24" name="Shape 21"/>
          <p:cNvSpPr/>
          <p:nvPr/>
        </p:nvSpPr>
        <p:spPr>
          <a:xfrm>
            <a:off x="4315968" y="4937760"/>
            <a:ext cx="3557016" cy="1188720"/>
          </a:xfrm>
          <a:prstGeom prst="roundRect">
            <a:avLst>
              <a:gd name="adj" fmla="val 6154"/>
            </a:avLst>
          </a:prstGeom>
          <a:solidFill>
            <a:srgbClr val="FFFFFF"/>
          </a:solidFill>
          <a:ln w="9525">
            <a:solidFill>
              <a:srgbClr val="D7E3EA"/>
            </a:solidFill>
            <a:prstDash val="solid"/>
          </a:ln>
        </p:spPr>
      </p:sp>
      <p:sp>
        <p:nvSpPr>
          <p:cNvPr id="25" name="Text 22"/>
          <p:cNvSpPr/>
          <p:nvPr/>
        </p:nvSpPr>
        <p:spPr>
          <a:xfrm>
            <a:off x="454456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Ettus USRP B210</a:t>
            </a:r>
            <a:endParaRPr lang="en-US" sz="1550" dirty="0"/>
          </a:p>
        </p:txBody>
      </p:sp>
      <p:sp>
        <p:nvSpPr>
          <p:cNvPr id="26" name="Text 23"/>
          <p:cNvSpPr/>
          <p:nvPr/>
        </p:nvSpPr>
        <p:spPr>
          <a:xfrm>
            <a:off x="454456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software-defined radio receiver</a:t>
            </a:r>
            <a:endParaRPr lang="en-US" sz="1150" dirty="0"/>
          </a:p>
        </p:txBody>
      </p:sp>
      <p:sp>
        <p:nvSpPr>
          <p:cNvPr id="27" name="Shape 24"/>
          <p:cNvSpPr/>
          <p:nvPr/>
        </p:nvSpPr>
        <p:spPr>
          <a:xfrm>
            <a:off x="8065008" y="4937760"/>
            <a:ext cx="3557016" cy="1188720"/>
          </a:xfrm>
          <a:prstGeom prst="roundRect">
            <a:avLst>
              <a:gd name="adj" fmla="val 6154"/>
            </a:avLst>
          </a:prstGeom>
          <a:solidFill>
            <a:srgbClr val="FFFFFF"/>
          </a:solidFill>
          <a:ln w="9525">
            <a:solidFill>
              <a:srgbClr val="D7E3EA"/>
            </a:solidFill>
            <a:prstDash val="solid"/>
          </a:ln>
        </p:spPr>
      </p:sp>
      <p:sp>
        <p:nvSpPr>
          <p:cNvPr id="28" name="Text 25"/>
          <p:cNvSpPr/>
          <p:nvPr/>
        </p:nvSpPr>
        <p:spPr>
          <a:xfrm>
            <a:off x="829360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Spectrum Analyzer</a:t>
            </a:r>
            <a:endParaRPr lang="en-US" sz="1550" dirty="0"/>
          </a:p>
        </p:txBody>
      </p:sp>
      <p:sp>
        <p:nvSpPr>
          <p:cNvPr id="29" name="Text 26"/>
          <p:cNvSpPr/>
          <p:nvPr/>
        </p:nvSpPr>
        <p:spPr>
          <a:xfrm>
            <a:off x="829360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one laptop — planning, RF checks, recording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Two pulsars recorded live to filterbank</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7</a:t>
            </a:r>
            <a:endParaRPr lang="en-US" sz="850" dirty="0"/>
          </a:p>
        </p:txBody>
      </p:sp>
      <p:sp>
        <p:nvSpPr>
          <p:cNvPr id="7" name="Shape 4"/>
          <p:cNvSpPr/>
          <p:nvPr/>
        </p:nvSpPr>
        <p:spPr>
          <a:xfrm>
            <a:off x="566928" y="1517904"/>
            <a:ext cx="2670048" cy="1481328"/>
          </a:xfrm>
          <a:prstGeom prst="roundRect">
            <a:avLst>
              <a:gd name="adj" fmla="val 4938"/>
            </a:avLst>
          </a:prstGeom>
          <a:solidFill>
            <a:srgbClr val="EFF4F7"/>
          </a:solidFill>
          <a:ln w="9525">
            <a:solidFill>
              <a:srgbClr val="D7E3EA"/>
            </a:solidFill>
            <a:prstDash val="solid"/>
          </a:ln>
        </p:spPr>
      </p:sp>
      <p:sp>
        <p:nvSpPr>
          <p:cNvPr id="8" name="Text 5"/>
          <p:cNvSpPr/>
          <p:nvPr/>
        </p:nvSpPr>
        <p:spPr>
          <a:xfrm>
            <a:off x="704088" y="1627632"/>
            <a:ext cx="2395728"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20 MHz</a:t>
            </a:r>
            <a:endParaRPr lang="en-US" sz="3400" dirty="0"/>
          </a:p>
        </p:txBody>
      </p:sp>
      <p:sp>
        <p:nvSpPr>
          <p:cNvPr id="9" name="Text 6"/>
          <p:cNvSpPr/>
          <p:nvPr/>
        </p:nvSpPr>
        <p:spPr>
          <a:xfrm>
            <a:off x="704088"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bandwidth, centered on 420 MHz</a:t>
            </a:r>
            <a:endParaRPr lang="en-US" sz="1150" dirty="0"/>
          </a:p>
        </p:txBody>
      </p:sp>
      <p:sp>
        <p:nvSpPr>
          <p:cNvPr id="10" name="Shape 7"/>
          <p:cNvSpPr/>
          <p:nvPr/>
        </p:nvSpPr>
        <p:spPr>
          <a:xfrm>
            <a:off x="3364992" y="1517904"/>
            <a:ext cx="2670048" cy="1481328"/>
          </a:xfrm>
          <a:prstGeom prst="roundRect">
            <a:avLst>
              <a:gd name="adj" fmla="val 4938"/>
            </a:avLst>
          </a:prstGeom>
          <a:solidFill>
            <a:srgbClr val="EFF4F7"/>
          </a:solidFill>
          <a:ln w="9525">
            <a:solidFill>
              <a:srgbClr val="D7E3EA"/>
            </a:solidFill>
            <a:prstDash val="solid"/>
          </a:ln>
        </p:spPr>
      </p:sp>
      <p:sp>
        <p:nvSpPr>
          <p:cNvPr id="11" name="Text 8"/>
          <p:cNvSpPr/>
          <p:nvPr/>
        </p:nvSpPr>
        <p:spPr>
          <a:xfrm>
            <a:off x="3502152"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256</a:t>
            </a:r>
            <a:endParaRPr lang="en-US" sz="3400" dirty="0"/>
          </a:p>
        </p:txBody>
      </p:sp>
      <p:sp>
        <p:nvSpPr>
          <p:cNvPr id="12" name="Text 9"/>
          <p:cNvSpPr/>
          <p:nvPr/>
        </p:nvSpPr>
        <p:spPr>
          <a:xfrm>
            <a:off x="3502152"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frequency channels</a:t>
            </a:r>
            <a:endParaRPr lang="en-US" sz="1150" dirty="0"/>
          </a:p>
        </p:txBody>
      </p:sp>
      <p:sp>
        <p:nvSpPr>
          <p:cNvPr id="13" name="Shape 10"/>
          <p:cNvSpPr/>
          <p:nvPr/>
        </p:nvSpPr>
        <p:spPr>
          <a:xfrm>
            <a:off x="6163056" y="1517904"/>
            <a:ext cx="2670048" cy="1481328"/>
          </a:xfrm>
          <a:prstGeom prst="roundRect">
            <a:avLst>
              <a:gd name="adj" fmla="val 4938"/>
            </a:avLst>
          </a:prstGeom>
          <a:solidFill>
            <a:srgbClr val="EFF4F7"/>
          </a:solidFill>
          <a:ln w="9525">
            <a:solidFill>
              <a:srgbClr val="D7E3EA"/>
            </a:solidFill>
            <a:prstDash val="solid"/>
          </a:ln>
        </p:spPr>
      </p:sp>
      <p:sp>
        <p:nvSpPr>
          <p:cNvPr id="14" name="Text 11"/>
          <p:cNvSpPr/>
          <p:nvPr/>
        </p:nvSpPr>
        <p:spPr>
          <a:xfrm>
            <a:off x="6300216"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204.8 µs</a:t>
            </a:r>
            <a:endParaRPr lang="en-US" sz="3400" dirty="0"/>
          </a:p>
        </p:txBody>
      </p:sp>
      <p:sp>
        <p:nvSpPr>
          <p:cNvPr id="15" name="Text 12"/>
          <p:cNvSpPr/>
          <p:nvPr/>
        </p:nvSpPr>
        <p:spPr>
          <a:xfrm>
            <a:off x="6300216"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time resolution</a:t>
            </a:r>
            <a:endParaRPr lang="en-US" sz="1150" dirty="0"/>
          </a:p>
        </p:txBody>
      </p:sp>
      <p:sp>
        <p:nvSpPr>
          <p:cNvPr id="16" name="Shape 13"/>
          <p:cNvSpPr/>
          <p:nvPr/>
        </p:nvSpPr>
        <p:spPr>
          <a:xfrm>
            <a:off x="8961120" y="1517904"/>
            <a:ext cx="2670048" cy="1481328"/>
          </a:xfrm>
          <a:prstGeom prst="roundRect">
            <a:avLst>
              <a:gd name="adj" fmla="val 4938"/>
            </a:avLst>
          </a:prstGeom>
          <a:solidFill>
            <a:srgbClr val="EFF4F7"/>
          </a:solidFill>
          <a:ln w="9525">
            <a:solidFill>
              <a:srgbClr val="D7E3EA"/>
            </a:solidFill>
            <a:prstDash val="solid"/>
          </a:ln>
        </p:spPr>
      </p:sp>
      <p:sp>
        <p:nvSpPr>
          <p:cNvPr id="17" name="Text 14"/>
          <p:cNvSpPr/>
          <p:nvPr/>
        </p:nvSpPr>
        <p:spPr>
          <a:xfrm>
            <a:off x="9098280"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32-bit</a:t>
            </a:r>
            <a:endParaRPr lang="en-US" sz="3400" dirty="0"/>
          </a:p>
        </p:txBody>
      </p:sp>
      <p:sp>
        <p:nvSpPr>
          <p:cNvPr id="18" name="Text 15"/>
          <p:cNvSpPr/>
          <p:nvPr/>
        </p:nvSpPr>
        <p:spPr>
          <a:xfrm>
            <a:off x="9098280"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samples — SIGPROC .fil</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520440"/>
          <a:ext cx="11055096" cy="914400"/>
        </p:xfrm>
        <a:graphic>
          <a:graphicData uri="http://schemas.openxmlformats.org/drawingml/2006/table">
            <a:tbl>
              <a:tblPr/>
              <a:tblGrid>
                <a:gridCol w="1691640"/>
                <a:gridCol w="1325880"/>
                <a:gridCol w="1325880"/>
                <a:gridCol w="1417320"/>
                <a:gridCol w="5294376"/>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 (MDT)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Duration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 volume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this 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B0329+54</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14:17</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36.6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11.0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Brightest northern pulsar — the standard reference source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B0950+08</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15:12</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22.2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6.7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 low-dispersion; transiting at ~59° altitude during the session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bl>
          </a:graphicData>
        </a:graphic>
      </p:graphicFrame>
      <p:sp>
        <p:nvSpPr>
          <p:cNvPr id="20" name="Text 16"/>
          <p:cNvSpPr/>
          <p:nvPr/>
        </p:nvSpPr>
        <p:spPr>
          <a:xfrm>
            <a:off x="566928" y="5669280"/>
            <a:ext cx="10972800" cy="64008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Targets were chosen live — the software computed current altitude/azimuth for the catalog pulsars from the Haswell site. Most southern sources never rise there, which made the transiting B0950+08 the natural second pick.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B0329+54 — a textbook detection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8</a:t>
            </a:r>
            <a:endParaRPr lang="en-US" sz="850" dirty="0"/>
          </a:p>
        </p:txBody>
      </p:sp>
      <p:sp>
        <p:nvSpPr>
          <p:cNvPr id="7" name="Shape 4"/>
          <p:cNvSpPr/>
          <p:nvPr/>
        </p:nvSpPr>
        <p:spPr>
          <a:xfrm>
            <a:off x="5568696" y="1572768"/>
            <a:ext cx="6163056" cy="4389772"/>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329+54_prepfold.png">    </p:cNvPr>
          <p:cNvPicPr>
            <a:picLocks noChangeAspect="1"/>
          </p:cNvPicPr>
          <p:nvPr/>
        </p:nvPicPr>
        <p:blipFill>
          <a:blip r:embed="rId2"/>
          <a:stretch>
            <a:fillRect/>
          </a:stretch>
        </p:blipFill>
        <p:spPr>
          <a:xfrm>
            <a:off x="5623560" y="1627632"/>
            <a:ext cx="6053328" cy="4280044"/>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PRESTO prepfold diagnostic — 36.6-minute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20.6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5×10⁻⁹⁰</a:t>
            </a:r>
            <a:endParaRPr lang="en-US" sz="1300" dirty="0"/>
          </a:p>
        </p:txBody>
      </p:sp>
      <p:sp>
        <p:nvSpPr>
          <p:cNvPr id="12" name="Text 8"/>
          <p:cNvSpPr/>
          <p:nvPr/>
        </p:nvSpPr>
        <p:spPr>
          <a:xfrm>
            <a:off x="566928" y="3246120"/>
            <a:ext cx="4663440" cy="28346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The characteristic double-peaked pulse profile, at the catalog period of 714.5 ms</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Signal persists across the entire 36-minute observation</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Detection peaks at dispersion measure ≈ 25 — catalog value 26.8 — and falls off toward zero</a:t>
            </a:r>
            <a:endParaRPr lang="en-US" sz="1350" dirty="0"/>
          </a:p>
          <a:p>
            <a:pPr marL="342900" indent="-342900">
              <a:buSzPct val="100000"/>
              <a:buChar char="•"/>
            </a:pPr>
            <a:r>
              <a:rPr lang="en-US" sz="1350" dirty="0">
                <a:solidFill>
                  <a:srgbClr val="24343C"/>
                </a:solidFill>
                <a:latin typeface="Calibri" pitchFamily="34" charset="0"/>
                <a:ea typeface="Calibri" pitchFamily="34" charset="-122"/>
                <a:cs typeface="Calibri" pitchFamily="34" charset="-120"/>
              </a:rPr>
              <a:t>Blind search (period, period-derivative, and DM all searched) converges on the same answer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B0950+08 — detected, with a lesson inside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9</a:t>
            </a:r>
            <a:endParaRPr lang="en-US" sz="850" dirty="0"/>
          </a:p>
        </p:txBody>
      </p:sp>
      <p:sp>
        <p:nvSpPr>
          <p:cNvPr id="7" name="Shape 4"/>
          <p:cNvSpPr/>
          <p:nvPr/>
        </p:nvSpPr>
        <p:spPr>
          <a:xfrm>
            <a:off x="5568696" y="1572768"/>
            <a:ext cx="6163056" cy="4388103"/>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950+08_prepfold.png">    </p:cNvPr>
          <p:cNvPicPr>
            <a:picLocks noChangeAspect="1"/>
          </p:cNvPicPr>
          <p:nvPr/>
        </p:nvPicPr>
        <p:blipFill>
          <a:blip r:embed="rId2"/>
          <a:stretch>
            <a:fillRect/>
          </a:stretch>
        </p:blipFill>
        <p:spPr>
          <a:xfrm>
            <a:off x="5623560" y="1627632"/>
            <a:ext cx="6053328" cy="4278375"/>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Fold at the known 253 ms period — 22.2-minute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~9.7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2×10⁻²²</a:t>
            </a:r>
            <a:endParaRPr lang="en-US" sz="1300" dirty="0"/>
          </a:p>
        </p:txBody>
      </p:sp>
      <p:sp>
        <p:nvSpPr>
          <p:cNvPr id="12" name="Text 8"/>
          <p:cNvSpPr/>
          <p:nvPr/>
        </p:nvSpPr>
        <p:spPr>
          <a:xfrm>
            <a:off x="566928" y="3246120"/>
            <a:ext cx="4663440" cy="29260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Clear peak at the pulsar’s 253 ms period when folded at the known ephemeris</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The lesson: with only 20 MHz at 420 MHz, its tiny dispersion measure (2.97) is indistinguishable from zero — a blind search “slides” to DM 0 and superficially resembles interference</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Folding at the known period settles it: the periodicity is unmistakably the pulsar</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A strong scintillator — a longer follow-up observation is planned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VERIFICATION</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Real — and independently reproducible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10</a:t>
            </a:r>
            <a:endParaRPr lang="en-US" sz="850" dirty="0"/>
          </a:p>
        </p:txBody>
      </p:sp>
      <p:sp>
        <p:nvSpPr>
          <p:cNvPr id="7" name="Shape 4"/>
          <p:cNvSpPr/>
          <p:nvPr/>
        </p:nvSpPr>
        <p:spPr>
          <a:xfrm>
            <a:off x="566928" y="1554480"/>
            <a:ext cx="5394960" cy="3977640"/>
          </a:xfrm>
          <a:prstGeom prst="roundRect">
            <a:avLst>
              <a:gd name="adj" fmla="val 1839"/>
            </a:avLst>
          </a:prstGeom>
          <a:solidFill>
            <a:srgbClr val="EFF4F7"/>
          </a:solidFill>
          <a:ln w="9525">
            <a:solidFill>
              <a:srgbClr val="D7E3EA"/>
            </a:solidFill>
            <a:prstDash val="solid"/>
          </a:ln>
        </p:spPr>
      </p:sp>
      <p:sp>
        <p:nvSpPr>
          <p:cNvPr id="8" name="Text 5"/>
          <p:cNvSpPr/>
          <p:nvPr/>
        </p:nvSpPr>
        <p:spPr>
          <a:xfrm>
            <a:off x="841248"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Dispersion: the celestial fingerprint</a:t>
            </a:r>
            <a:endParaRPr lang="en-US" sz="1700" dirty="0"/>
          </a:p>
        </p:txBody>
      </p:sp>
      <p:sp>
        <p:nvSpPr>
          <p:cNvPr id="9" name="Text 6"/>
          <p:cNvSpPr/>
          <p:nvPr/>
        </p:nvSpPr>
        <p:spPr>
          <a:xfrm>
            <a:off x="841248" y="2286000"/>
            <a:ext cx="4846320" cy="30175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Interstellar plasma delays lower frequencies — a sweep imposed by light-years of travel</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Detection strength peaks at the catalog dispersion measure and falls toward zero</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Terrestrial interference shows no dispersion at all</a:t>
            </a:r>
            <a:endParaRPr lang="en-US" sz="1300" dirty="0"/>
          </a:p>
          <a:p>
            <a:pPr marL="342900" indent="-342900">
              <a:buSzPct val="100000"/>
              <a:buChar char="•"/>
            </a:pPr>
            <a:r>
              <a:rPr lang="en-US" sz="1300" b="1" dirty="0">
                <a:solidFill>
                  <a:srgbClr val="156082"/>
                </a:solidFill>
                <a:latin typeface="Calibri" pitchFamily="34" charset="0"/>
                <a:ea typeface="Calibri" pitchFamily="34" charset="-122"/>
                <a:cs typeface="Calibri" pitchFamily="34" charset="-120"/>
              </a:rPr>
              <a:t>One curve separates a genuine pulsar from RFI</a:t>
            </a:r>
            <a:endParaRPr lang="en-US" sz="1300" dirty="0"/>
          </a:p>
        </p:txBody>
      </p:sp>
      <p:sp>
        <p:nvSpPr>
          <p:cNvPr id="10" name="Shape 7"/>
          <p:cNvSpPr/>
          <p:nvPr/>
        </p:nvSpPr>
        <p:spPr>
          <a:xfrm>
            <a:off x="6217920" y="1554480"/>
            <a:ext cx="5394960" cy="3977640"/>
          </a:xfrm>
          <a:prstGeom prst="roundRect">
            <a:avLst>
              <a:gd name="adj" fmla="val 1839"/>
            </a:avLst>
          </a:prstGeom>
          <a:solidFill>
            <a:srgbClr val="EFF4F7"/>
          </a:solidFill>
          <a:ln w="9525">
            <a:solidFill>
              <a:srgbClr val="D7E3EA"/>
            </a:solidFill>
            <a:prstDash val="solid"/>
          </a:ln>
        </p:spPr>
      </p:sp>
      <p:sp>
        <p:nvSpPr>
          <p:cNvPr id="11" name="Text 8"/>
          <p:cNvSpPr/>
          <p:nvPr/>
        </p:nvSpPr>
        <p:spPr>
          <a:xfrm>
            <a:off x="6492240"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Two platforms, two toolchains, one answer</a:t>
            </a:r>
            <a:endParaRPr lang="en-US" sz="1700" dirty="0"/>
          </a:p>
        </p:txBody>
      </p:sp>
      <p:sp>
        <p:nvSpPr>
          <p:cNvPr id="12" name="Text 9"/>
          <p:cNvSpPr/>
          <p:nvPr/>
        </p:nvSpPr>
        <p:spPr>
          <a:xfrm>
            <a:off x="6492240" y="2286000"/>
            <a:ext cx="4846320" cy="14630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macOS — PRESTO v5.0.2, re-run on v6.0.0</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Windows — PRESTO v6.0.0 under WSL (a new DSES capability)</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Identical fold commands, independently built stacks</a:t>
            </a:r>
            <a:endParaRPr lang="en-US" sz="1300" dirty="0"/>
          </a:p>
        </p:txBody>
      </p:sp>
      <p:sp>
        <p:nvSpPr>
          <p:cNvPr id="13" name="Shape 10"/>
          <p:cNvSpPr/>
          <p:nvPr/>
        </p:nvSpPr>
        <p:spPr>
          <a:xfrm>
            <a:off x="6492240" y="3977640"/>
            <a:ext cx="4846320" cy="1234440"/>
          </a:xfrm>
          <a:prstGeom prst="roundRect">
            <a:avLst>
              <a:gd name="adj" fmla="val 5926"/>
            </a:avLst>
          </a:prstGeom>
          <a:solidFill>
            <a:srgbClr val="FFFFFF"/>
          </a:solidFill>
          <a:ln w="9525">
            <a:solidFill>
              <a:srgbClr val="D7E3EA"/>
            </a:solidFill>
            <a:prstDash val="solid"/>
          </a:ln>
        </p:spPr>
      </p:sp>
      <p:sp>
        <p:nvSpPr>
          <p:cNvPr id="14" name="Text 11"/>
          <p:cNvSpPr/>
          <p:nvPr/>
        </p:nvSpPr>
        <p:spPr>
          <a:xfrm>
            <a:off x="6720840" y="4069080"/>
            <a:ext cx="4480560" cy="1051560"/>
          </a:xfrm>
          <a:prstGeom prst="rect">
            <a:avLst/>
          </a:prstGeom>
          <a:noFill/>
          <a:ln/>
        </p:spPr>
        <p:txBody>
          <a:bodyPr wrap="square" lIns="0" tIns="0" rIns="0" bIns="0" rtlCol="0" anchor="ctr"/>
          <a:lstStyle/>
          <a:p>
            <a:pPr indent="0" marL="0">
              <a:buNone/>
            </a:pPr>
            <a:r>
              <a:rPr lang="en-US" sz="1100" dirty="0">
                <a:solidFill>
                  <a:srgbClr val="6B7A82"/>
                </a:solidFill>
                <a:latin typeface="Calibri" pitchFamily="34" charset="0"/>
                <a:ea typeface="Calibri" pitchFamily="34" charset="-122"/>
                <a:cs typeface="Calibri" pitchFamily="34" charset="-120"/>
              </a:rPr>
              <a:t>B0329+54 probability-of-noise
</a:t>
            </a:r>
            <a:pPr indent="0" marL="0">
              <a:buNone/>
            </a:pPr>
            <a:r>
              <a:rPr lang="en-US" sz="1900" b="1" dirty="0">
                <a:solidFill>
                  <a:srgbClr val="156082"/>
                </a:solidFill>
                <a:latin typeface="Calibri" pitchFamily="34" charset="0"/>
                <a:ea typeface="Calibri" pitchFamily="34" charset="-122"/>
                <a:cs typeface="Calibri" pitchFamily="34" charset="-120"/>
              </a:rPr>
              <a:t>4.49×10⁻⁹⁰</a:t>
            </a:r>
            <a:pPr indent="0" marL="0">
              <a:buNone/>
            </a:pPr>
            <a:r>
              <a:rPr lang="en-US" sz="1100" dirty="0">
                <a:solidFill>
                  <a:srgbClr val="24343C"/>
                </a:solidFill>
                <a:latin typeface="Calibri" pitchFamily="34" charset="0"/>
                <a:ea typeface="Calibri" pitchFamily="34" charset="-122"/>
                <a:cs typeface="Calibri" pitchFamily="34" charset="-120"/>
              </a:rPr>
              <a:t>  Windows      </a:t>
            </a:r>
            <a:pPr indent="0" marL="0">
              <a:buNone/>
            </a:pPr>
            <a:r>
              <a:rPr lang="en-US" sz="1900" b="1" dirty="0">
                <a:solidFill>
                  <a:srgbClr val="B86A18"/>
                </a:solidFill>
                <a:latin typeface="Calibri" pitchFamily="34" charset="0"/>
                <a:ea typeface="Calibri" pitchFamily="34" charset="-122"/>
                <a:cs typeface="Calibri" pitchFamily="34" charset="-120"/>
              </a:rPr>
              <a:t>4.5×10⁻⁹⁰</a:t>
            </a:r>
            <a:pPr indent="0" marL="0">
              <a:buNone/>
            </a:pPr>
            <a:r>
              <a:rPr lang="en-US" sz="1100" dirty="0">
                <a:solidFill>
                  <a:srgbClr val="24343C"/>
                </a:solidFill>
                <a:latin typeface="Calibri" pitchFamily="34" charset="0"/>
                <a:ea typeface="Calibri" pitchFamily="34" charset="-122"/>
                <a:cs typeface="Calibri" pitchFamily="34" charset="-120"/>
              </a:rPr>
              <a:t>  macOS</a:t>
            </a:r>
            <a:endParaRPr lang="en-US" sz="1100" dirty="0"/>
          </a:p>
        </p:txBody>
      </p:sp>
      <p:sp>
        <p:nvSpPr>
          <p:cNvPr id="15" name="Text 12"/>
          <p:cNvSpPr/>
          <p:nvPr/>
        </p:nvSpPr>
        <p:spPr>
          <a:xfrm>
            <a:off x="566928" y="5806440"/>
            <a:ext cx="10972800" cy="54864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Every fold now produces a standardized PDF diagnostic stored beside the recording — validation minutes after capture, on whichever machine is at hand.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FIELD ENGINEERING</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case of the headless Raspberry Pi</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11</a:t>
            </a:r>
            <a:endParaRPr lang="en-US" sz="850" dirty="0"/>
          </a:p>
        </p:txBody>
      </p:sp>
      <p:sp>
        <p:nvSpPr>
          <p:cNvPr id="7" name="Shape 4"/>
          <p:cNvSpPr/>
          <p:nvPr/>
        </p:nvSpPr>
        <p:spPr>
          <a:xfrm>
            <a:off x="566928" y="1828800"/>
            <a:ext cx="2670048" cy="2834640"/>
          </a:xfrm>
          <a:prstGeom prst="roundRect">
            <a:avLst>
              <a:gd name="adj" fmla="val 2740"/>
            </a:avLst>
          </a:prstGeom>
          <a:solidFill>
            <a:srgbClr val="EFF4F7"/>
          </a:solidFill>
          <a:ln w="9525">
            <a:solidFill>
              <a:srgbClr val="D7E3EA"/>
            </a:solidFill>
            <a:prstDash val="solid"/>
          </a:ln>
        </p:spPr>
      </p:sp>
      <p:sp>
        <p:nvSpPr>
          <p:cNvPr id="8" name="Text 5"/>
          <p:cNvSpPr/>
          <p:nvPr/>
        </p:nvSpPr>
        <p:spPr>
          <a:xfrm>
            <a:off x="786384"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p:nvPr/>
        </p:nvSpPr>
        <p:spPr>
          <a:xfrm>
            <a:off x="786384"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Symptoms</a:t>
            </a:r>
            <a:endParaRPr lang="en-US" sz="1500" dirty="0"/>
          </a:p>
        </p:txBody>
      </p:sp>
      <p:sp>
        <p:nvSpPr>
          <p:cNvPr id="10" name="Text 7"/>
          <p:cNvSpPr/>
          <p:nvPr/>
        </p:nvSpPr>
        <p:spPr>
          <a:xfrm>
            <a:off x="786384"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Dropdown menus dead, Help menu blank, window opens tiny in a corner — on the field box, mid-session</a:t>
            </a:r>
            <a:endParaRPr lang="en-US" sz="1150" dirty="0"/>
          </a:p>
        </p:txBody>
      </p:sp>
      <p:sp>
        <p:nvSpPr>
          <p:cNvPr id="11" name="Shape 8"/>
          <p:cNvSpPr/>
          <p:nvPr/>
        </p:nvSpPr>
        <p:spPr>
          <a:xfrm>
            <a:off x="3364992" y="1828800"/>
            <a:ext cx="2670048" cy="2834640"/>
          </a:xfrm>
          <a:prstGeom prst="roundRect">
            <a:avLst>
              <a:gd name="adj" fmla="val 2740"/>
            </a:avLst>
          </a:prstGeom>
          <a:solidFill>
            <a:srgbClr val="EFF4F7"/>
          </a:solidFill>
          <a:ln w="9525">
            <a:solidFill>
              <a:srgbClr val="D7E3EA"/>
            </a:solidFill>
            <a:prstDash val="solid"/>
          </a:ln>
        </p:spPr>
      </p:sp>
      <p:sp>
        <p:nvSpPr>
          <p:cNvPr id="12" name="Text 9"/>
          <p:cNvSpPr/>
          <p:nvPr/>
        </p:nvSpPr>
        <p:spPr>
          <a:xfrm>
            <a:off x="3584448"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3584448"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Diagnosis</a:t>
            </a:r>
            <a:endParaRPr lang="en-US" sz="1500" dirty="0"/>
          </a:p>
        </p:txBody>
      </p:sp>
      <p:sp>
        <p:nvSpPr>
          <p:cNvPr id="14" name="Text 11"/>
          <p:cNvSpPr/>
          <p:nvPr/>
        </p:nvSpPr>
        <p:spPr>
          <a:xfrm>
            <a:off x="3584448"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Remote SSH into the site over Tailscale — while the trip continued</a:t>
            </a:r>
            <a:endParaRPr lang="en-US" sz="1150" dirty="0"/>
          </a:p>
        </p:txBody>
      </p:sp>
      <p:sp>
        <p:nvSpPr>
          <p:cNvPr id="15" name="Shape 12"/>
          <p:cNvSpPr/>
          <p:nvPr/>
        </p:nvSpPr>
        <p:spPr>
          <a:xfrm>
            <a:off x="6163056" y="1828800"/>
            <a:ext cx="2670048" cy="2834640"/>
          </a:xfrm>
          <a:prstGeom prst="roundRect">
            <a:avLst>
              <a:gd name="adj" fmla="val 2740"/>
            </a:avLst>
          </a:prstGeom>
          <a:solidFill>
            <a:srgbClr val="EFF4F7"/>
          </a:solidFill>
          <a:ln w="9525">
            <a:solidFill>
              <a:srgbClr val="D7E3EA"/>
            </a:solidFill>
            <a:prstDash val="solid"/>
          </a:ln>
        </p:spPr>
      </p:sp>
      <p:sp>
        <p:nvSpPr>
          <p:cNvPr id="16" name="Text 13"/>
          <p:cNvSpPr/>
          <p:nvPr/>
        </p:nvSpPr>
        <p:spPr>
          <a:xfrm>
            <a:off x="6382512"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4"/>
          <p:cNvSpPr/>
          <p:nvPr/>
        </p:nvSpPr>
        <p:spPr>
          <a:xfrm>
            <a:off x="6382512"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Root cause</a:t>
            </a:r>
            <a:endParaRPr lang="en-US" sz="1500" dirty="0"/>
          </a:p>
        </p:txBody>
      </p:sp>
      <p:sp>
        <p:nvSpPr>
          <p:cNvPr id="18" name="Text 15"/>
          <p:cNvSpPr/>
          <p:nvPr/>
        </p:nvSpPr>
        <p:spPr>
          <a:xfrm>
            <a:off x="6382512"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No monitor attached: the graphics system reports a 0×0-pixel screen, collapsing every popup and confusing window placement</a:t>
            </a:r>
            <a:endParaRPr lang="en-US" sz="1150" dirty="0"/>
          </a:p>
        </p:txBody>
      </p:sp>
      <p:sp>
        <p:nvSpPr>
          <p:cNvPr id="19" name="Shape 16"/>
          <p:cNvSpPr/>
          <p:nvPr/>
        </p:nvSpPr>
        <p:spPr>
          <a:xfrm>
            <a:off x="8961120" y="1828800"/>
            <a:ext cx="2670048" cy="2834640"/>
          </a:xfrm>
          <a:prstGeom prst="roundRect">
            <a:avLst>
              <a:gd name="adj" fmla="val 2740"/>
            </a:avLst>
          </a:prstGeom>
          <a:solidFill>
            <a:srgbClr val="EFF4F7"/>
          </a:solidFill>
          <a:ln w="9525">
            <a:solidFill>
              <a:srgbClr val="D7E3EA"/>
            </a:solidFill>
            <a:prstDash val="solid"/>
          </a:ln>
        </p:spPr>
      </p:sp>
      <p:sp>
        <p:nvSpPr>
          <p:cNvPr id="20" name="Text 17"/>
          <p:cNvSpPr/>
          <p:nvPr/>
        </p:nvSpPr>
        <p:spPr>
          <a:xfrm>
            <a:off x="9180576" y="2084832"/>
            <a:ext cx="475488" cy="475488"/>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p:nvPr/>
        </p:nvSpPr>
        <p:spPr>
          <a:xfrm>
            <a:off x="9180576"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Fix — in v1.1.6</a:t>
            </a:r>
            <a:endParaRPr lang="en-US" sz="1500" dirty="0"/>
          </a:p>
        </p:txBody>
      </p:sp>
      <p:sp>
        <p:nvSpPr>
          <p:cNvPr id="22" name="Text 19"/>
          <p:cNvSpPr/>
          <p:nvPr/>
        </p:nvSpPr>
        <p:spPr>
          <a:xfrm>
            <a:off x="9180576"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Launcher synthesizes a virtual monitor when none is connected; the app refuses to reposition windows against an empty screen</a:t>
            </a:r>
            <a:endParaRPr lang="en-US" sz="1150" dirty="0"/>
          </a:p>
        </p:txBody>
      </p:sp>
      <p:sp>
        <p:nvSpPr>
          <p:cNvPr id="23" name="Shape 20"/>
          <p:cNvSpPr/>
          <p:nvPr/>
        </p:nvSpPr>
        <p:spPr>
          <a:xfrm>
            <a:off x="566928" y="5074920"/>
            <a:ext cx="11055096" cy="1005840"/>
          </a:xfrm>
          <a:prstGeom prst="roundRect">
            <a:avLst>
              <a:gd name="adj" fmla="val 7273"/>
            </a:avLst>
          </a:prstGeom>
          <a:solidFill>
            <a:srgbClr val="EFF4F7"/>
          </a:solidFill>
          <a:ln w="9525">
            <a:solidFill>
              <a:srgbClr val="D7E3EA"/>
            </a:solidFill>
            <a:prstDash val="solid"/>
          </a:ln>
        </p:spPr>
      </p:sp>
      <p:sp>
        <p:nvSpPr>
          <p:cNvPr id="24" name="Text 21"/>
          <p:cNvSpPr/>
          <p:nvPr/>
        </p:nvSpPr>
        <p:spPr>
          <a:xfrm>
            <a:off x="886968" y="5074920"/>
            <a:ext cx="10424160" cy="1005840"/>
          </a:xfrm>
          <a:prstGeom prst="rect">
            <a:avLst/>
          </a:prstGeom>
          <a:noFill/>
          <a:ln/>
        </p:spPr>
        <p:txBody>
          <a:bodyPr wrap="square" lIns="0" tIns="0" rIns="0" bIns="0" rtlCol="0" anchor="ctr"/>
          <a:lstStyle/>
          <a:p>
            <a:pPr indent="0" marL="0">
              <a:buNone/>
            </a:pPr>
            <a:r>
              <a:rPr lang="en-US" sz="1450" b="1" dirty="0">
                <a:solidFill>
                  <a:srgbClr val="B86A18"/>
                </a:solidFill>
                <a:latin typeface="Calibri" pitchFamily="34" charset="0"/>
                <a:ea typeface="Calibri" pitchFamily="34" charset="-122"/>
                <a:cs typeface="Calibri" pitchFamily="34" charset="-120"/>
              </a:rPr>
              <a:t>Not an application bug.  </a:t>
            </a:r>
            <a:pPr indent="0" marL="0">
              <a:buNone/>
            </a:pPr>
            <a:r>
              <a:rPr lang="en-US" sz="1450" dirty="0">
                <a:solidFill>
                  <a:srgbClr val="0A2F40"/>
                </a:solidFill>
                <a:latin typeface="Calibri" pitchFamily="34" charset="0"/>
                <a:ea typeface="Calibri" pitchFamily="34" charset="-122"/>
                <a:cs typeface="Calibri" pitchFamily="34" charset="-120"/>
              </a:rPr>
              <a:t>A display-configuration condition that had silently affected every prior software version — found because real hardware was running at a real site.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SHIPPED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Field wish-list → released in two days</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12</a:t>
            </a:r>
            <a:endParaRPr lang="en-US" sz="850" dirty="0"/>
          </a:p>
        </p:txBody>
      </p:sp>
      <p:sp>
        <p:nvSpPr>
          <p:cNvPr id="7" name="Text 4"/>
          <p:cNvSpPr/>
          <p:nvPr/>
        </p:nvSpPr>
        <p:spPr>
          <a:xfrm>
            <a:off x="566928" y="1444752"/>
            <a:ext cx="10515600" cy="3657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Spectrum Analyzer v1.1.6 — cut and published July 12, one day after the observing session:</a:t>
            </a:r>
            <a:endParaRPr lang="en-US" sz="1400" dirty="0"/>
          </a:p>
        </p:txBody>
      </p:sp>
      <p:sp>
        <p:nvSpPr>
          <p:cNvPr id="8" name="Shape 5"/>
          <p:cNvSpPr/>
          <p:nvPr/>
        </p:nvSpPr>
        <p:spPr>
          <a:xfrm>
            <a:off x="566928" y="2011680"/>
            <a:ext cx="3557016" cy="2651760"/>
          </a:xfrm>
          <a:prstGeom prst="roundRect">
            <a:avLst>
              <a:gd name="adj" fmla="val 2759"/>
            </a:avLst>
          </a:prstGeom>
          <a:solidFill>
            <a:srgbClr val="EFF4F7"/>
          </a:solidFill>
          <a:ln w="9525">
            <a:solidFill>
              <a:srgbClr val="D7E3EA"/>
            </a:solidFill>
            <a:prstDash val="solid"/>
          </a:ln>
        </p:spPr>
      </p:sp>
      <p:sp>
        <p:nvSpPr>
          <p:cNvPr id="9" name="Text 6"/>
          <p:cNvSpPr/>
          <p:nvPr/>
        </p:nvSpPr>
        <p:spPr>
          <a:xfrm>
            <a:off x="80467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Sweep mode</a:t>
            </a:r>
            <a:endParaRPr lang="en-US" sz="1650" dirty="0"/>
          </a:p>
        </p:txBody>
      </p:sp>
      <p:sp>
        <p:nvSpPr>
          <p:cNvPr id="10" name="Text 7"/>
          <p:cNvSpPr/>
          <p:nvPr/>
        </p:nvSpPr>
        <p:spPr>
          <a:xfrm>
            <a:off x="80467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Stepped wide-spectrum scan for RFI surveys beyond the radio’s instantaneous bandwidth — retunes across a range (e.g. 100–1000 MHz) and stitches one wide trace, with cross-pass max-hold.</a:t>
            </a:r>
            <a:endParaRPr lang="en-US" sz="1200" dirty="0"/>
          </a:p>
        </p:txBody>
      </p:sp>
      <p:sp>
        <p:nvSpPr>
          <p:cNvPr id="11" name="Shape 8"/>
          <p:cNvSpPr/>
          <p:nvPr/>
        </p:nvSpPr>
        <p:spPr>
          <a:xfrm>
            <a:off x="4315968" y="2011680"/>
            <a:ext cx="3557016" cy="2651760"/>
          </a:xfrm>
          <a:prstGeom prst="roundRect">
            <a:avLst>
              <a:gd name="adj" fmla="val 2759"/>
            </a:avLst>
          </a:prstGeom>
          <a:solidFill>
            <a:srgbClr val="EFF4F7"/>
          </a:solidFill>
          <a:ln w="9525">
            <a:solidFill>
              <a:srgbClr val="D7E3EA"/>
            </a:solidFill>
            <a:prstDash val="solid"/>
          </a:ln>
        </p:spPr>
      </p:sp>
      <p:sp>
        <p:nvSpPr>
          <p:cNvPr id="12" name="Text 9"/>
          <p:cNvSpPr/>
          <p:nvPr/>
        </p:nvSpPr>
        <p:spPr>
          <a:xfrm>
            <a:off x="455371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Recording, finished</a:t>
            </a:r>
            <a:endParaRPr lang="en-US" sz="1650" dirty="0"/>
          </a:p>
        </p:txBody>
      </p:sp>
      <p:sp>
        <p:nvSpPr>
          <p:cNvPr id="13" name="Text 10"/>
          <p:cNvSpPr/>
          <p:nvPr/>
        </p:nvSpPr>
        <p:spPr>
          <a:xfrm>
            <a:off x="455371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Source name stamped into the filename and the .fil header — with RA/Dec derived from the pulsar designation. Red REC indicator, elapsed time, timed auto-stop. July 11’s files had to be renamed and patched by hand; never again.</a:t>
            </a:r>
            <a:endParaRPr lang="en-US" sz="1200" dirty="0"/>
          </a:p>
        </p:txBody>
      </p:sp>
      <p:sp>
        <p:nvSpPr>
          <p:cNvPr id="14" name="Shape 11"/>
          <p:cNvSpPr/>
          <p:nvPr/>
        </p:nvSpPr>
        <p:spPr>
          <a:xfrm>
            <a:off x="8065008" y="2011680"/>
            <a:ext cx="3557016" cy="2651760"/>
          </a:xfrm>
          <a:prstGeom prst="roundRect">
            <a:avLst>
              <a:gd name="adj" fmla="val 2759"/>
            </a:avLst>
          </a:prstGeom>
          <a:solidFill>
            <a:srgbClr val="EFF4F7"/>
          </a:solidFill>
          <a:ln w="9525">
            <a:solidFill>
              <a:srgbClr val="D7E3EA"/>
            </a:solidFill>
            <a:prstDash val="solid"/>
          </a:ln>
        </p:spPr>
      </p:sp>
      <p:sp>
        <p:nvSpPr>
          <p:cNvPr id="15" name="Text 12"/>
          <p:cNvSpPr/>
          <p:nvPr/>
        </p:nvSpPr>
        <p:spPr>
          <a:xfrm>
            <a:off x="830275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Headless fixes</a:t>
            </a:r>
            <a:endParaRPr lang="en-US" sz="1650" dirty="0"/>
          </a:p>
        </p:txBody>
      </p:sp>
      <p:sp>
        <p:nvSpPr>
          <p:cNvPr id="16" name="Text 13"/>
          <p:cNvSpPr/>
          <p:nvPr/>
        </p:nvSpPr>
        <p:spPr>
          <a:xfrm>
            <a:off x="830275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The virtual-monitor launcher and empty-screen safeguards from the previous slide, plus updated documentation and operating guide.</a:t>
            </a:r>
            <a:endParaRPr lang="en-US" sz="1200" dirty="0"/>
          </a:p>
        </p:txBody>
      </p:sp>
      <p:sp>
        <p:nvSpPr>
          <p:cNvPr id="17" name="Shape 14"/>
          <p:cNvSpPr/>
          <p:nvPr/>
        </p:nvSpPr>
        <p:spPr>
          <a:xfrm>
            <a:off x="566928" y="4937760"/>
            <a:ext cx="11055096" cy="1234440"/>
          </a:xfrm>
          <a:prstGeom prst="roundRect">
            <a:avLst>
              <a:gd name="adj" fmla="val 5926"/>
            </a:avLst>
          </a:prstGeom>
          <a:solidFill>
            <a:srgbClr val="FFFFFF"/>
          </a:solidFill>
          <a:ln w="9525">
            <a:solidFill>
              <a:srgbClr val="D7E3EA"/>
            </a:solidFill>
            <a:prstDash val="solid"/>
          </a:ln>
        </p:spPr>
      </p:sp>
      <p:sp>
        <p:nvSpPr>
          <p:cNvPr id="18" name="Text 15"/>
          <p:cNvSpPr/>
          <p:nvPr/>
        </p:nvSpPr>
        <p:spPr>
          <a:xfrm>
            <a:off x="841248" y="4937760"/>
            <a:ext cx="10515600" cy="1234440"/>
          </a:xfrm>
          <a:prstGeom prst="rect">
            <a:avLst/>
          </a:prstGeom>
          <a:noFill/>
          <a:ln/>
        </p:spPr>
        <p:txBody>
          <a:bodyPr wrap="square" lIns="0" tIns="0" rIns="0" bIns="0" rtlCol="0" anchor="ctr"/>
          <a:lstStyle/>
          <a:p>
            <a:pPr indent="0" marL="0">
              <a:buNone/>
            </a:pPr>
            <a:r>
              <a:rPr lang="en-US" sz="1250" b="1" dirty="0">
                <a:solidFill>
                  <a:srgbClr val="B86A18"/>
                </a:solidFill>
                <a:latin typeface="Calibri" pitchFamily="34" charset="0"/>
                <a:ea typeface="Calibri" pitchFamily="34" charset="-122"/>
                <a:cs typeface="Calibri" pitchFamily="34" charset="-120"/>
              </a:rPr>
              <a:t>Epilogue: </a:t>
            </a:r>
            <a:pPr indent="0" marL="0">
              <a:buNone/>
            </a:pPr>
            <a:r>
              <a:rPr lang="en-US" sz="1250" dirty="0">
                <a:solidFill>
                  <a:srgbClr val="24343C"/>
                </a:solidFill>
                <a:latin typeface="Calibri" pitchFamily="34" charset="0"/>
                <a:ea typeface="Calibri" pitchFamily="34" charset="-122"/>
                <a:cs typeface="Calibri" pitchFamily="34" charset="-120"/>
              </a:rPr>
              <a:t>one day after release, the field box caught a packaging defect desktop testing had missed — Windows line endings in the Unix launcher script. Rebuilt and republished within hours, with two independent build-pipeline safeguards added. Real installations in the field earn their keep.</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ROAD AHEAD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barrier is now a slope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13</a:t>
            </a:r>
            <a:endParaRPr lang="en-US" sz="850" dirty="0"/>
          </a:p>
        </p:txBody>
      </p:sp>
      <p:sp>
        <p:nvSpPr>
          <p:cNvPr id="7" name="Text 4"/>
          <p:cNvSpPr/>
          <p:nvPr/>
        </p:nvSpPr>
        <p:spPr>
          <a:xfrm>
            <a:off x="566928" y="1691640"/>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225296" y="1618488"/>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Train the interest group  —  </a:t>
            </a:r>
            <a:pPr indent="0" marL="0">
              <a:buNone/>
            </a:pPr>
            <a:r>
              <a:rPr lang="en-US" sz="1450" dirty="0">
                <a:solidFill>
                  <a:srgbClr val="24343C"/>
                </a:solidFill>
                <a:latin typeface="Calibri" pitchFamily="34" charset="0"/>
                <a:ea typeface="Calibri" pitchFamily="34" charset="-122"/>
                <a:cs typeface="Calibri" pitchFamily="34" charset="-120"/>
              </a:rPr>
              <a:t>A roster of DSES members is signed up for radio astronomy — first observing sessions on a far gentler learning curve.</a:t>
            </a:r>
            <a:endParaRPr lang="en-US" sz="1450" dirty="0"/>
          </a:p>
        </p:txBody>
      </p:sp>
      <p:sp>
        <p:nvSpPr>
          <p:cNvPr id="9" name="Text 6"/>
          <p:cNvSpPr/>
          <p:nvPr/>
        </p:nvSpPr>
        <p:spPr>
          <a:xfrm>
            <a:off x="566928" y="2587752"/>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225296" y="2514600"/>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Re-observe B0950+08  —  </a:t>
            </a:r>
            <a:pPr indent="0" marL="0">
              <a:buNone/>
            </a:pPr>
            <a:r>
              <a:rPr lang="en-US" sz="1450" dirty="0">
                <a:solidFill>
                  <a:srgbClr val="24343C"/>
                </a:solidFill>
                <a:latin typeface="Calibri" pitchFamily="34" charset="0"/>
                <a:ea typeface="Calibri" pitchFamily="34" charset="-122"/>
                <a:cs typeface="Calibri" pitchFamily="34" charset="-120"/>
              </a:rPr>
              <a:t>Longer integration to ride through scintillation.</a:t>
            </a:r>
            <a:endParaRPr lang="en-US" sz="1450" dirty="0"/>
          </a:p>
        </p:txBody>
      </p:sp>
      <p:sp>
        <p:nvSpPr>
          <p:cNvPr id="11" name="Text 8"/>
          <p:cNvSpPr/>
          <p:nvPr/>
        </p:nvSpPr>
        <p:spPr>
          <a:xfrm>
            <a:off x="566928" y="3483864"/>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9"/>
          <p:cNvSpPr/>
          <p:nvPr/>
        </p:nvSpPr>
        <p:spPr>
          <a:xfrm>
            <a:off x="1225296" y="3410712"/>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Toward timing-grade data  —  </a:t>
            </a:r>
            <a:pPr indent="0" marL="0">
              <a:buNone/>
            </a:pPr>
            <a:r>
              <a:rPr lang="en-US" sz="1450" dirty="0">
                <a:solidFill>
                  <a:srgbClr val="24343C"/>
                </a:solidFill>
                <a:latin typeface="Calibri" pitchFamily="34" charset="0"/>
                <a:ea typeface="Calibri" pitchFamily="34" charset="-122"/>
                <a:cs typeface="Calibri" pitchFamily="34" charset="-120"/>
              </a:rPr>
              <a:t>Repeat B0329+54 observations — pulse arrival times over a long baseline.</a:t>
            </a:r>
            <a:endParaRPr lang="en-US" sz="1450" dirty="0"/>
          </a:p>
        </p:txBody>
      </p:sp>
      <p:sp>
        <p:nvSpPr>
          <p:cNvPr id="13" name="Text 10"/>
          <p:cNvSpPr/>
          <p:nvPr/>
        </p:nvSpPr>
        <p:spPr>
          <a:xfrm>
            <a:off x="566928" y="4379976"/>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1"/>
          <p:cNvSpPr/>
          <p:nvPr/>
        </p:nvSpPr>
        <p:spPr>
          <a:xfrm>
            <a:off x="1225296" y="4306824"/>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Publish  —  </a:t>
            </a:r>
            <a:pPr indent="0" marL="0">
              <a:buNone/>
            </a:pPr>
            <a:r>
              <a:rPr lang="en-US" sz="1450" dirty="0">
                <a:solidFill>
                  <a:srgbClr val="24343C"/>
                </a:solidFill>
                <a:latin typeface="Calibri" pitchFamily="34" charset="0"/>
                <a:ea typeface="Calibri" pitchFamily="34" charset="-122"/>
                <a:cs typeface="Calibri" pitchFamily="34" charset="-120"/>
              </a:rPr>
              <a:t>Full trip report on the DSES web site; this talk for SARA.</a:t>
            </a:r>
            <a:endParaRPr lang="en-US" sz="1450" dirty="0"/>
          </a:p>
        </p:txBody>
      </p:sp>
      <p:sp>
        <p:nvSpPr>
          <p:cNvPr id="15" name="Text 12"/>
          <p:cNvSpPr/>
          <p:nvPr/>
        </p:nvSpPr>
        <p:spPr>
          <a:xfrm>
            <a:off x="566928" y="5276088"/>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Text 13"/>
          <p:cNvSpPr/>
          <p:nvPr/>
        </p:nvSpPr>
        <p:spPr>
          <a:xfrm>
            <a:off x="1225296" y="5202936"/>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Keep building  —  </a:t>
            </a:r>
            <a:pPr indent="0" marL="0">
              <a:buNone/>
            </a:pPr>
            <a:r>
              <a:rPr lang="en-US" sz="1450" dirty="0">
                <a:solidFill>
                  <a:srgbClr val="24343C"/>
                </a:solidFill>
                <a:latin typeface="Calibri" pitchFamily="34" charset="0"/>
                <a:ea typeface="Calibri" pitchFamily="34" charset="-122"/>
                <a:cs typeface="Calibri" pitchFamily="34" charset="-120"/>
              </a:rPr>
              <a:t>More Spectrum Analyzer features are planned — the report and operating guide are the baseline future releases will update.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10744200" y="553212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10012680" y="480060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9281160" y="406908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8549640" y="33375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7818120" y="2606040"/>
            <a:ext cx="7406640" cy="7406640"/>
          </a:xfrm>
          <a:prstGeom prst="ellipse">
            <a:avLst/>
          </a:prstGeom>
          <a:solidFill>
            <a:srgbClr val="0A2F40">
              <a:alpha val="0"/>
            </a:srgbClr>
          </a:solidFill>
          <a:ln w="12700">
            <a:solidFill>
              <a:srgbClr val="2E5A70"/>
            </a:solidFill>
            <a:prstDash val="solid"/>
          </a:ln>
        </p:spPr>
      </p:sp>
      <p:sp>
        <p:nvSpPr>
          <p:cNvPr id="7" name="Text 5"/>
          <p:cNvSpPr/>
          <p:nvPr/>
        </p:nvSpPr>
        <p:spPr>
          <a:xfrm>
            <a:off x="685800" y="548640"/>
            <a:ext cx="822960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WHAT WE PROVED AT HASWELL</a:t>
            </a:r>
            <a:endParaRPr lang="en-US" sz="1250" dirty="0"/>
          </a:p>
        </p:txBody>
      </p:sp>
      <p:sp>
        <p:nvSpPr>
          <p:cNvPr id="8" name="Text 6"/>
          <p:cNvSpPr/>
          <p:nvPr/>
        </p:nvSpPr>
        <p:spPr>
          <a:xfrm>
            <a:off x="713232" y="1289304"/>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17320" y="1124712"/>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Non-experts detected two pulsars — with software the Society wrote, controls, and can teach.</a:t>
            </a:r>
            <a:endParaRPr lang="en-US" sz="1900" dirty="0"/>
          </a:p>
        </p:txBody>
      </p:sp>
      <p:sp>
        <p:nvSpPr>
          <p:cNvPr id="10" name="Text 8"/>
          <p:cNvSpPr/>
          <p:nvPr/>
        </p:nvSpPr>
        <p:spPr>
          <a:xfrm>
            <a:off x="713232" y="2368296"/>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p:nvPr/>
        </p:nvSpPr>
        <p:spPr>
          <a:xfrm>
            <a:off x="1417320" y="2203704"/>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whole data path — antenna → SDR → filterbank → PRESTO — is validated end to end and reproduced across platforms.</a:t>
            </a:r>
            <a:endParaRPr lang="en-US" sz="1900" dirty="0"/>
          </a:p>
        </p:txBody>
      </p:sp>
      <p:sp>
        <p:nvSpPr>
          <p:cNvPr id="12" name="Text 10"/>
          <p:cNvSpPr/>
          <p:nvPr/>
        </p:nvSpPr>
        <p:spPr>
          <a:xfrm>
            <a:off x="713232" y="3447288"/>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p:nvPr/>
        </p:nvSpPr>
        <p:spPr>
          <a:xfrm>
            <a:off x="1417320" y="3282696"/>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barrier is now a slope: training the next generation of DSES observers starts immediately.</a:t>
            </a:r>
            <a:endParaRPr lang="en-US" sz="1900" dirty="0"/>
          </a:p>
        </p:txBody>
      </p:sp>
      <p:sp>
        <p:nvSpPr>
          <p:cNvPr id="14" name="Shape 12"/>
          <p:cNvSpPr/>
          <p:nvPr/>
        </p:nvSpPr>
        <p:spPr>
          <a:xfrm>
            <a:off x="713232" y="4617720"/>
            <a:ext cx="9601200" cy="0"/>
          </a:xfrm>
          <a:prstGeom prst="line">
            <a:avLst/>
          </a:prstGeom>
          <a:noFill/>
          <a:ln w="12700">
            <a:solidFill>
              <a:srgbClr val="2E5A70"/>
            </a:solidFill>
            <a:prstDash val="solid"/>
          </a:ln>
        </p:spPr>
      </p:sp>
      <p:sp>
        <p:nvSpPr>
          <p:cNvPr id="15" name="Text 13"/>
          <p:cNvSpPr/>
          <p:nvPr/>
        </p:nvSpPr>
        <p:spPr>
          <a:xfrm>
            <a:off x="713232" y="4800600"/>
            <a:ext cx="9875520" cy="960120"/>
          </a:xfrm>
          <a:prstGeom prst="rect">
            <a:avLst/>
          </a:prstGeom>
          <a:noFill/>
          <a:ln/>
        </p:spPr>
        <p:txBody>
          <a:bodyPr wrap="square" lIns="0" tIns="0" rIns="0" bIns="0" rtlCol="0" anchor="t"/>
          <a:lstStyle/>
          <a:p>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Standing on the work of Dr. Richard Russel (AC0UB) and Dan Layne (AD0CY).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Field team: Ray Uberecken (AA0L), Anne Haney (W0ZDW), Richard Hambly (K0GD).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Development, field diagnosis, and data processing accelerated by AI-assisted engineering (Claude Code).</a:t>
            </a:r>
            <a:endParaRPr lang="en-US" sz="1250" dirty="0"/>
          </a:p>
        </p:txBody>
      </p:sp>
      <p:sp>
        <p:nvSpPr>
          <p:cNvPr id="16" name="Text 14"/>
          <p:cNvSpPr/>
          <p:nvPr/>
        </p:nvSpPr>
        <p:spPr>
          <a:xfrm>
            <a:off x="713232" y="59436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Richard M. Hambly (K0GD)</a:t>
            </a:r>
            <a:pPr indent="0" marL="0">
              <a:buNone/>
            </a:pPr>
            <a:r>
              <a:rPr lang="en-US" sz="1400" dirty="0">
                <a:solidFill>
                  <a:srgbClr val="D99C55"/>
                </a:solidFill>
                <a:latin typeface="Calibri" pitchFamily="34" charset="0"/>
                <a:ea typeface="Calibri" pitchFamily="34" charset="-122"/>
                <a:cs typeface="Calibri" pitchFamily="34" charset="-120"/>
              </a:rPr>
              <a:t>   •   rick@cnssys.com   •   dses.science</a:t>
            </a:r>
            <a:endParaRPr lang="en-US" sz="1400" dirty="0"/>
          </a:p>
        </p:txBody>
      </p:sp>
      <p:pic>
        <p:nvPicPr>
          <p:cNvPr id="17" name="Image 0" descr="C:\Users\rick\Documents\DSES\Science\Spectrum_Analyzer_PY\reports\assets\DSES_Logo_Compact_Reversed_WhiteOnNavy.png">    </p:cNvPr>
          <p:cNvPicPr>
            <a:picLocks noChangeAspect="1"/>
          </p:cNvPicPr>
          <p:nvPr/>
        </p:nvPicPr>
        <p:blipFill>
          <a:blip r:embed="rId1"/>
          <a:stretch>
            <a:fillRect/>
          </a:stretch>
        </p:blipFill>
        <p:spPr>
          <a:xfrm>
            <a:off x="9464040" y="5742432"/>
            <a:ext cx="2103120" cy="8631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Deep Space Exploration Society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Lowering the Barrier to Radio Astronomy</dc:title>
  <dc:subject>PptxGenJS Presentation</dc:subject>
  <dc:creator>Richard M. Hambly (K0GD)</dc:creator>
  <cp:lastModifiedBy>Richard M. Hambly (K0GD)</cp:lastModifiedBy>
  <cp:revision>1</cp:revision>
  <dcterms:created xsi:type="dcterms:W3CDTF">2026-07-14T01:57:50Z</dcterms:created>
  <dcterms:modified xsi:type="dcterms:W3CDTF">2026-07-14T01:57:50Z</dcterms:modified>
</cp:coreProperties>
</file>