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8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461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 sentence framing: this is the story of a deliberate experiment — can we make pulsar observing something any motivated DSES member can do, not just our two experts? Field session July 11, 2026 at the Haswell, Colorado 60-foot dish; results verified over the following two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abstract is what goes to the SARA meeting planner. Read silently in rehearsal, skip live — or show for a beat while introducing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where due: this toolchain produces first-rate, professional results, and Rich and Dan built DSES's pulsar program on it. The point is not that the tools are bad — it's that the barrier to entry kept hands-on observing limited to two people. Hundreds of pages of training material is a real number — this tool list is straight from the DSES pulsar training guide's system-configuration table. The grayed row is the kicker: the professional world in common use runs even deeper — PSRCHIVE is a whole additional suite our two experts didn't even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contrast with the previous slide: the wall of chips collapses to two. On site, the Spectrum Analyzer does everything the observer needs; at home (or in the field), PRESTO v6 plus TEMPO2 does the analysis. PRESTO v6 dropped the classic-TEMPO dependency — barycentering is in-process and polycos come from TEMPO2 — and both installations are captured as re-runnable build scripts in the Society's repository (WSL on Windows, macOS).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1141-F601-7004-544D-0C400EB3D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729A7-10D3-4DDA-74CC-62393BDCC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6ABF6-5D99-CA8A-1617-C3327965F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contrast with the previous slide: the wall of chips collapses to two. On site, the Spectrum Analyzer does everything the observer needs; at home (or in the field), PRESTO v6 plus TEMPO2 does the analysis. PRESTO v6 dropped the classic-TEMPO dependency — barycentering is in-process and polycos come from TEMPO2 — and both installations are captured as re-runnable build scripts in the Society's repository (WSL on Windows, macOS).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A8498-7C8D-6968-F385-D28D4A111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78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the observer does on site — plan, survey, verify, record — in one package. The analysis side (PRESTO) stays the professional standard; the acquisition side no longer requires it to be assembled by hand. Distribution is from the Society's server with a built-in update checker.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Society's first live pulsar session using its own software. Team of three; none are pulsar-processing experts in the sense of the previous slide. Everything on site ran through the Spectrum Analyzer on one laptop driving the B210 at the 60-foot dish.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geometry for both recordings: 20 MHz at 420 MHz, 256 channels, 204.8 microsecond sampling, 32-bit — written directly as SIGPROC filterbank, the format PRESTO consumes. Nearly 18 GB across the two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figure: single clean pulse top-left, single vertical track in phase-vs-time, DM curve peaking near catalog. The number's history: ~19.9-20.6 sigma across the original fold types as reported in the field; RFI mask + zap took it to 22.4; bridging a 0.558-second dropped-sample gap recovered full coherence at 28.0 sigma with DM back at 25.3. Chi-squared_red 16.75.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drift function was mapped directly: 22 consecutive 100-second fixed-period folds, each window's phase measured by cross-correlation — a smooth accelerating drip plus one discrete +0.219-rotation step at t ≈ 550 s. The pad is 0.025% of the data, a copy of the preceding real noise — no synthetic signal; it only restores the time axis. The 5.6-sigma jump is the coherence recovered when the two segments finally add in phase. Caveat: the padded file is for detection and profile work, not absolute timing. Full analysis in the refined fold PDFs beside the recordings.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is the credibility of the whole talk: the 2026-07-17 re-analysis applied the full B0329+54 cleanup — the significance stays ~9 sigma (noise-limited, not artifact-limited), but the best-fit parameters walk onto the catalog values for the first time. A predictive split-half coherence test came out consistent (~2 sigma) but not decisive — at 9 sigma total, subdividing runs out of signal. Processing gains are exhausted; the re-observation plan is on the roadmap: record after the timebase fix ships, 90+ minutes, multiple sessions for scintillation.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independent arguments. Physics: the dispersion curve is the fingerprint — RFI doesn't have one. Engineering: the same recordings re-analyzed on separately compiled PRESTO builds on two operating systems agree to three significant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Crowd-pleaser story: the field box (Raspberry Pi 5, viewed over remote desktop) had 'broken' menus. Every symptom traced to one condition — headless operation yields a zero-by-zero screen. The fix shipped in v1.1.6 and the box was verified running it. Moral for any club running remote gear.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the field session asked for shipped within two days, and every machine — including the field box — converged on the release through the built-in updater. The line-endings epilogue is worth telling: the first Windows-built archive broke Unix launches; the field box exposed it within a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noise-floor scatter dropped ~34x (≈ sqrt of the averaging depth); max hold is now a true per-block peak detector, so a 51-microsecond burst reads at full amplitude instead of -27 dB. One release note worth mentioning: the default average is now linear power, so the displayed floor reads about +2.5 dB versus older versions — the old dB-domain average was biased low; the new number is the honest one. Verified live on the B210 at 1422 MHz with three weak narrowband test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 wish list — every item is specified in the repository's shared ROADMAP.md with design notes. The queue turns the remaining expertise into software: the planner replaces the Murmur/Stellarium planning step, one-click post-processing replaces the hand-run PRESTO pipeline for the common case, and timebase integrity fixes the defect peer review found. Science queue alongside: the B0950+08 campaign, and repeated B0329+54 sessions toward timing-grade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mission, not the software: this was about opening real radio astronomy to more members. Thanks: Rich and Dan built the program this stands on; the field team; and the report notes the role of AI-assisted engineering across three platforms.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rgbClr val="6B7A82"/>
                </a:solidFill>
                <a:latin typeface="Calibri"/>
              </a:defRPr>
            </a:lvl1pPr>
          </a:lstStyle>
          <a:p>
            <a:pPr algn="r"/>
            <a:fld id="{51DC1C96-102D-4764-8BE2-750FA6264AFB}" type="slidenum">
              <a:rPr lang="en-US" sz="850" dirty="0">
                <a:solidFill>
                  <a:srgbClr val="6B7A82"/>
                </a:solidFill>
                <a:latin typeface="Calibri"/>
              </a:rPr>
              <a:t>‹#›</a:t>
            </a:fld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rgbClr val="6B7A82"/>
                </a:solidFill>
                <a:latin typeface="Calibri"/>
              </a:defRPr>
            </a:lvl1pPr>
          </a:lstStyle>
          <a:p>
            <a:pPr algn="r"/>
            <a:fld id="{832BFFA8-5D8A-4288-B069-7225ED41CEB7}" type="slidenum">
              <a:rPr lang="en-US" sz="850" dirty="0">
                <a:solidFill>
                  <a:srgbClr val="6B7A82"/>
                </a:solidFill>
                <a:latin typeface="Calibri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371600"/>
            <a:ext cx="1554480" cy="1554480"/>
          </a:xfrm>
          <a:prstGeom prst="ellipse">
            <a:avLst/>
          </a:prstGeom>
          <a:solidFill>
            <a:srgbClr val="0A2F40">
              <a:alpha val="0"/>
            </a:srgbClr>
          </a:solidFill>
          <a:ln w="12700">
            <a:solidFill>
              <a:srgbClr val="2E5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640080"/>
            <a:ext cx="3017520" cy="3017520"/>
          </a:xfrm>
          <a:prstGeom prst="ellipse">
            <a:avLst/>
          </a:prstGeom>
          <a:solidFill>
            <a:srgbClr val="0A2F40">
              <a:alpha val="0"/>
            </a:srgbClr>
          </a:solidFill>
          <a:ln w="12700">
            <a:solidFill>
              <a:srgbClr val="2E5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55280" y="-91440"/>
            <a:ext cx="4480560" cy="4480560"/>
          </a:xfrm>
          <a:prstGeom prst="ellipse">
            <a:avLst/>
          </a:prstGeom>
          <a:solidFill>
            <a:srgbClr val="0A2F40">
              <a:alpha val="0"/>
            </a:srgbClr>
          </a:solidFill>
          <a:ln w="12700">
            <a:solidFill>
              <a:srgbClr val="2E5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0" y="-822960"/>
            <a:ext cx="5943600" cy="5943600"/>
          </a:xfrm>
          <a:prstGeom prst="ellipse">
            <a:avLst/>
          </a:prstGeom>
          <a:solidFill>
            <a:srgbClr val="0A2F40">
              <a:alpha val="0"/>
            </a:srgbClr>
          </a:solidFill>
          <a:ln w="12700">
            <a:solidFill>
              <a:srgbClr val="2E5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92240" y="-1554480"/>
            <a:ext cx="7406640" cy="7406640"/>
          </a:xfrm>
          <a:prstGeom prst="ellipse">
            <a:avLst/>
          </a:prstGeom>
          <a:solidFill>
            <a:srgbClr val="0A2F40">
              <a:alpha val="0"/>
            </a:srgbClr>
          </a:solidFill>
          <a:ln w="12700">
            <a:solidFill>
              <a:srgbClr val="2E5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:\Users\rick\Documents\DSES\Science\Spectrum_Analyzer_PY\icons\dses_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1581912"/>
            <a:ext cx="1133856" cy="1133856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9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OF AMATEUR RADIO ASTRONOMERS  •  2026 CONFERENCE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1600200"/>
            <a:ext cx="8595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Lowering the Barrier</a:t>
            </a:r>
            <a:endParaRPr lang="en-US" sz="47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Radio Astronomy</a:t>
            </a:r>
            <a:endParaRPr lang="en-US" sz="4700" dirty="0"/>
          </a:p>
        </p:txBody>
      </p:sp>
      <p:sp>
        <p:nvSpPr>
          <p:cNvPr id="10" name="Text 7"/>
          <p:cNvSpPr/>
          <p:nvPr/>
        </p:nvSpPr>
        <p:spPr>
          <a:xfrm>
            <a:off x="68580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pulsar detections with the new DSES Spectrum Analyzer software — </a:t>
            </a:r>
            <a:br>
              <a:rPr lang="en-US" sz="1700" dirty="0">
                <a:solidFill>
                  <a:srgbClr val="B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700" dirty="0">
                <a:solidFill>
                  <a:srgbClr val="B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60-foot dish, Haswell, Colorado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M. Hambly (K0GD)</a:t>
            </a:r>
            <a:r>
              <a:rPr lang="en-US" sz="1500" dirty="0">
                <a:solidFill>
                  <a:srgbClr val="B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Deep Space Exploration Society</a:t>
            </a:r>
            <a:endParaRPr lang="en-US" sz="1500" dirty="0"/>
          </a:p>
        </p:txBody>
      </p:sp>
      <p:pic>
        <p:nvPicPr>
          <p:cNvPr id="12" name="Image 1" descr="C:\Users\rick\Documents\DSES\Science\Spectrum_Analyzer_PY\reports\assets\DSES_Logo_Compact_Reversed_WhiteOn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5577840"/>
            <a:ext cx="2286000" cy="938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SARA 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78181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1737360"/>
            <a:ext cx="7269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years, pulsar observing at the Deep Space Exploration Society has rested on a professional toolchain — PRESTO and TEMPO built from source, custom GNU Radio flowgraphs, SIGPROC utilities, and companion analysis tools — with a learning curve steep enough that only two members could take an observation from dish to detection. This talk describes a deliberate experiment in lowering that barrier. </a:t>
            </a:r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DSES developed the “Spectrum Analyzer”, a cross-platform application that consolidates the on-site workflow — planning the observation, choosing clean frequencies, verifying the RF path, and recording analysis-ready SIGPROC filterbank data — into a single, easy-to-use package driving an Ettus USRP B210 software-defined radio. </a:t>
            </a:r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July 11, 2026, a three-member team, none of them pulsar-processing experts, put the premise to the test at the Society’s 60-foot dish in Haswell, Colorado. B0329+54 was ultimately detected at 28 sigma — a figure that grew from 20 when peer review of the trip report exposed, and repaired, a subtle recording-timebase defect — and B0950+08 produced a strong ~9-sigma candidate whose best-fit period and dispersion land on the catalog values. </a:t>
            </a:r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feedback drove two software releases within a week, and a documented upgrade queue — from a built-in pulsar visibility planner to one-click post-recording analysis — now charts the path to training a new generation of DSES observers on a far gentler learning curve.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0" y="1481328"/>
            <a:ext cx="2926080" cy="4709160"/>
          </a:xfrm>
          <a:prstGeom prst="roundRect">
            <a:avLst>
              <a:gd name="adj" fmla="val 250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915400" y="17556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915400" y="1993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M. Hambly, K0GD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15400" y="26426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915400" y="2880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Space Exploration Society (DSES), Colorado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15400" y="35295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915400" y="37673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60-ft dish + Ettus USRP B210 SDR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15400" y="44165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915400" y="465429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DSES Spectrum Analyzer + PRESTO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915400" y="53035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15400" y="55412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pulsars • SDR • filterbank • accessibility</a:t>
            </a:r>
            <a:endParaRPr lang="en-US" sz="1200" dirty="0"/>
          </a:p>
        </p:txBody>
      </p:sp>
      <p:sp>
        <p:nvSpPr>
          <p:cNvPr id="20" name="Slide Number Placeholder 20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BD446756-E39E-4725-93FB-13FA05BADBB0}" type="slidenum">
              <a:rPr lang="en-US" sz="850" dirty="0">
                <a:solidFill>
                  <a:srgbClr val="6B7A82"/>
                </a:solidFill>
                <a:latin typeface="Calibri"/>
              </a:rPr>
              <a:t>2</a:t>
            </a:fld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Pulsar observing had become an experts-only craft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8211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years, the Society’s results rested on two members — </a:t>
            </a:r>
            <a:r>
              <a:rPr lang="en-US" sz="1600" b="1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Richard Russel (AC0UB)</a:t>
            </a: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b="1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Layne (AD0CY)</a:t>
            </a: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the professional toolchain they mastered: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2103120"/>
            <a:ext cx="2548128" cy="1078992"/>
          </a:xfrm>
          <a:prstGeom prst="roundRect">
            <a:avLst>
              <a:gd name="adj" fmla="val 678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6"/>
          <p:cNvSpPr/>
          <p:nvPr/>
        </p:nvSpPr>
        <p:spPr>
          <a:xfrm>
            <a:off x="731520" y="2194560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PRESTO v5 + TEMPO1 + TEMPO2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2487168"/>
            <a:ext cx="2218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source; hand-edited observatory and clock files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79648" y="2103120"/>
            <a:ext cx="2548128" cy="1078992"/>
          </a:xfrm>
          <a:prstGeom prst="roundRect">
            <a:avLst>
              <a:gd name="adj" fmla="val 678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3444240" y="2194560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RIPTIDE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444240" y="2487168"/>
            <a:ext cx="2218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independent pulsar-search code (fast-folding)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92368" y="2103120"/>
            <a:ext cx="2548128" cy="1078992"/>
          </a:xfrm>
          <a:prstGeom prst="roundRect">
            <a:avLst>
              <a:gd name="adj" fmla="val 678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6156960" y="2194560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Radio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156960" y="2487168"/>
            <a:ext cx="2218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filterbank flowgraphs driving the B210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" y="3328416"/>
            <a:ext cx="2548128" cy="1078992"/>
          </a:xfrm>
          <a:prstGeom prst="roundRect">
            <a:avLst>
              <a:gd name="adj" fmla="val 678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5"/>
          <p:cNvSpPr/>
          <p:nvPr/>
        </p:nvSpPr>
        <p:spPr>
          <a:xfrm>
            <a:off x="731520" y="3419856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SIGPROC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31520" y="3712464"/>
            <a:ext cx="2218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filterbank-format utilities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79648" y="3328416"/>
            <a:ext cx="2548128" cy="1078992"/>
          </a:xfrm>
          <a:prstGeom prst="roundRect">
            <a:avLst>
              <a:gd name="adj" fmla="val 678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8"/>
          <p:cNvSpPr/>
          <p:nvPr/>
        </p:nvSpPr>
        <p:spPr>
          <a:xfrm>
            <a:off x="3444240" y="3419856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blimpy / watutil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444240" y="3712464"/>
            <a:ext cx="2218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Listen RFI and saturation checks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992368" y="3328416"/>
            <a:ext cx="2548128" cy="1078992"/>
          </a:xfrm>
          <a:prstGeom prst="roundRect">
            <a:avLst>
              <a:gd name="adj" fmla="val 678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1"/>
          <p:cNvSpPr/>
          <p:nvPr/>
        </p:nvSpPr>
        <p:spPr>
          <a:xfrm>
            <a:off x="6156960" y="3419856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156960" y="3712464"/>
            <a:ext cx="2218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high-precision pulsar timing in Python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66928" y="4553712"/>
            <a:ext cx="2548128" cy="1078992"/>
          </a:xfrm>
          <a:prstGeom prst="roundRect">
            <a:avLst>
              <a:gd name="adj" fmla="val 678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4"/>
          <p:cNvSpPr/>
          <p:nvPr/>
        </p:nvSpPr>
        <p:spPr>
          <a:xfrm>
            <a:off x="731520" y="4645152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ATNF pulsar catalogue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31520" y="4937760"/>
            <a:ext cx="2218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ephemeris data (.par) for every fold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79648" y="4553712"/>
            <a:ext cx="2548128" cy="1078992"/>
          </a:xfrm>
          <a:prstGeom prst="roundRect">
            <a:avLst>
              <a:gd name="adj" fmla="val 678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7"/>
          <p:cNvSpPr/>
          <p:nvPr/>
        </p:nvSpPr>
        <p:spPr>
          <a:xfrm>
            <a:off x="3444240" y="4645152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 + Best Profile Analyzer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3444240" y="4937760"/>
            <a:ext cx="2218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I0NAA planning/analysis tools — run under Wine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992368" y="4553712"/>
            <a:ext cx="2548128" cy="1078992"/>
          </a:xfrm>
          <a:prstGeom prst="roundRect">
            <a:avLst>
              <a:gd name="adj" fmla="val 678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0"/>
          <p:cNvSpPr/>
          <p:nvPr/>
        </p:nvSpPr>
        <p:spPr>
          <a:xfrm>
            <a:off x="6156960" y="4645152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Stellarium + experience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156960" y="4937760"/>
            <a:ext cx="2218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all, knowing how the pieces fit together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66928" y="5815584"/>
            <a:ext cx="7973568" cy="512064"/>
          </a:xfrm>
          <a:prstGeom prst="roundRect">
            <a:avLst>
              <a:gd name="adj" fmla="val 14286"/>
            </a:avLst>
          </a:prstGeom>
          <a:solidFill>
            <a:srgbClr val="F7FAFB"/>
          </a:solidFill>
          <a:ln w="9525">
            <a:solidFill>
              <a:srgbClr val="E5EDF1"/>
            </a:solidFill>
            <a:prstDash val="solid"/>
          </a:ln>
        </p:spPr>
        <p:txBody>
          <a:bodyPr/>
          <a:lstStyle/>
          <a:p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768096" y="5815584"/>
            <a:ext cx="7571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PSRCHIVE</a:t>
            </a:r>
            <a:r>
              <a:rPr lang="en-US" sz="1200" dirty="0">
                <a:solidFill>
                  <a:srgbClr val="93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professional community’s archiving &amp; timing suite, in common use — beyond even our experts’ stack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778240" y="2212848"/>
            <a:ext cx="2834640" cy="1481328"/>
          </a:xfrm>
          <a:prstGeom prst="roundRect">
            <a:avLst>
              <a:gd name="adj" fmla="val 4938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915400" y="232257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6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100s</a:t>
            </a:r>
            <a:endParaRPr lang="en-US" sz="3400" dirty="0"/>
          </a:p>
        </p:txBody>
      </p:sp>
      <p:sp>
        <p:nvSpPr>
          <p:cNvPr id="39" name="Text 36"/>
          <p:cNvSpPr/>
          <p:nvPr/>
        </p:nvSpPr>
        <p:spPr>
          <a:xfrm>
            <a:off x="8915400" y="30815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pages of DSES training material for this stack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778240" y="3950208"/>
            <a:ext cx="2834640" cy="1481328"/>
          </a:xfrm>
          <a:prstGeom prst="roundRect">
            <a:avLst>
              <a:gd name="adj" fmla="val 4938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915400" y="405993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42" name="Text 39"/>
          <p:cNvSpPr/>
          <p:nvPr/>
        </p:nvSpPr>
        <p:spPr>
          <a:xfrm>
            <a:off x="8915400" y="481888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who could run an observation end to end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778240" y="5596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First-rate results — but a learning curve that kept everyone else watching.</a:t>
            </a:r>
            <a:endParaRPr lang="en-US" sz="1400" dirty="0"/>
          </a:p>
        </p:txBody>
      </p:sp>
      <p:sp>
        <p:nvSpPr>
          <p:cNvPr id="44" name="Slide Number Placeholder 44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5D902D0F-5B8C-4D3A-A24A-FF2B7FD4C56C}" type="slidenum">
              <a:rPr lang="en-US" sz="850" dirty="0">
                <a:solidFill>
                  <a:srgbClr val="6B7A82"/>
                </a:solidFill>
                <a:latin typeface="Calibri"/>
              </a:rPr>
              <a:t>3</a:t>
            </a:fld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stack — much simpler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observation today takes two pieces: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2496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— ON SITE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66928" y="28803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8096" y="302666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DSES Spectrum Analyzer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8096" y="3392424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survey, verify, record — one application on one laptop (Windows / macOS / Linux)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3749040"/>
            <a:ext cx="59436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10912" y="2496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ANY MACHINE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010912" y="28803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12080" y="302666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PRESTO v6.0.0 + TEMPO2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212080" y="3392424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analysis suite, installed by one DSES build script — v6 barycenters in-process, so classic TEMPO is no longer needed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66928" y="5760720"/>
            <a:ext cx="7964424" cy="566928"/>
          </a:xfrm>
          <a:prstGeom prst="roundRect">
            <a:avLst>
              <a:gd name="adj" fmla="val 12903"/>
            </a:avLst>
          </a:prstGeom>
          <a:solidFill>
            <a:srgbClr val="F7FAFB"/>
          </a:solidFill>
          <a:ln w="9525">
            <a:solidFill>
              <a:srgbClr val="E5ED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68096" y="5760720"/>
            <a:ext cx="7562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the whole list</a:t>
            </a:r>
            <a:r>
              <a:rPr lang="en-US" sz="1400" dirty="0">
                <a:solidFill>
                  <a:srgbClr val="93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 Wine, no custom flowgraphs, no hand-edited configuration files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778240" y="2212848"/>
            <a:ext cx="2834640" cy="1481328"/>
          </a:xfrm>
          <a:prstGeom prst="roundRect">
            <a:avLst>
              <a:gd name="adj" fmla="val 4938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915400" y="232257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8915400" y="30815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in the whole chain — acquisition and analysis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778240" y="3950208"/>
            <a:ext cx="2834640" cy="1481328"/>
          </a:xfrm>
          <a:prstGeom prst="roundRect">
            <a:avLst>
              <a:gd name="adj" fmla="val 4938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915400" y="405993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6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8915400" y="481888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script installs the analysis stack, per platform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778240" y="5596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professional-quality results — on a far gentler learning curve.</a:t>
            </a:r>
            <a:endParaRPr lang="en-US" sz="1600" dirty="0"/>
          </a:p>
        </p:txBody>
      </p:sp>
      <p:sp>
        <p:nvSpPr>
          <p:cNvPr id="26" name="Slide Number Placeholder 26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28FBE091-B4BE-475C-8E05-00078E6FE657}" type="slidenum">
              <a:rPr lang="en-US" sz="850" dirty="0">
                <a:solidFill>
                  <a:srgbClr val="6B7A82"/>
                </a:solidFill>
                <a:latin typeface="Calibri"/>
              </a:rPr>
              <a:t>4</a:t>
            </a:fld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2805D-07A8-53F8-3E15-7AF29FC2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4512DB-E3F3-ECAF-E8B2-245824B98B0A}"/>
              </a:ext>
            </a:extLst>
          </p:cNvPr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6BD9F1-FA5F-650B-D826-B04AE3F947E2}"/>
              </a:ext>
            </a:extLst>
          </p:cNvPr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DSES Spectrum Analyzer V1.1.7</a:t>
            </a:r>
          </a:p>
        </p:txBody>
      </p:sp>
      <p:pic>
        <p:nvPicPr>
          <p:cNvPr id="4" name="Image 0" descr="C:\Users\rick\Documents\DSES\Science\Spectrum_Analyzer_PY\reports\assets\DSES_Logo_Compact_Teal.png">
            <a:extLst>
              <a:ext uri="{FF2B5EF4-FFF2-40B4-BE49-F238E27FC236}">
                <a16:creationId xmlns:a16="http://schemas.microsoft.com/office/drawing/2014/main" id="{93127B1B-4141-3F57-DC63-D9D915808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060EEE90-1E45-FBF4-8CD9-E3F9AA4D7234}"/>
              </a:ext>
            </a:extLst>
          </p:cNvPr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D509EC-BA92-1C40-6C27-629E2F448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1200404"/>
            <a:ext cx="9602251" cy="5221224"/>
          </a:xfrm>
          <a:prstGeom prst="rect">
            <a:avLst/>
          </a:prstGeom>
        </p:spPr>
      </p:pic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0EE33691-5852-40E0-8221-5FA2C0BA7807}" type="slidenum">
              <a:rPr lang="en-US" sz="850" dirty="0">
                <a:solidFill>
                  <a:srgbClr val="6B7A82"/>
                </a:solidFill>
                <a:latin typeface="Calibri"/>
              </a:rPr>
              <a:t>5</a:t>
            </a:fld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660217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instrument instead of a toolchain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DSES Spectrum Analyzer</a:t>
            </a:r>
            <a:r>
              <a:rPr lang="en-US" sz="2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cross-platform application written within the Society. Born as an RFI-survey instrument for the Haswell site, it has grown into a radio-astronomy data-acquisition system.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66928" y="2487168"/>
            <a:ext cx="384048" cy="38404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33856" y="2441448"/>
            <a:ext cx="7343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—  </a:t>
            </a: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altitude/azimuth for catalog pulsars, computed from the site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6928" y="3236976"/>
            <a:ext cx="384048" cy="38404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33856" y="3191256"/>
            <a:ext cx="7343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 —  </a:t>
            </a: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spectrum and waterfall; wide-band Sweep mode for RFI surveys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6928" y="3986784"/>
            <a:ext cx="384048" cy="38404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33856" y="3941064"/>
            <a:ext cx="7343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 —  </a:t>
            </a: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RF path is alive and clean before committing to a recording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6928" y="4736592"/>
            <a:ext cx="384048" cy="38404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33856" y="4690872"/>
            <a:ext cx="7343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 —  </a:t>
            </a: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SIGPROC .fil files — source name and RA/Dec stamped in the header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6928" y="5486400"/>
            <a:ext cx="384048" cy="38404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33856" y="5440680"/>
            <a:ext cx="7343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 —  </a:t>
            </a: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updater keeps observatory and member machines on the released baseline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549640" y="1481328"/>
            <a:ext cx="3063240" cy="3977640"/>
          </a:xfrm>
          <a:prstGeom prst="roundRect">
            <a:avLst>
              <a:gd name="adj" fmla="val 2388"/>
            </a:avLst>
          </a:prstGeom>
          <a:solidFill>
            <a:srgbClr val="0A2F40"/>
          </a:solidFill>
          <a:ln w="9525">
            <a:solidFill>
              <a:srgbClr val="0A2F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C:\Users\rick\Documents\DSES\Science\Spectrum_Analyzer_PY\icons\dses_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913632"/>
            <a:ext cx="1280160" cy="1280160"/>
          </a:xfrm>
          <a:prstGeom prst="ellipse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732520" y="3291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DSES Spectrum Analyzer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732520" y="38221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Ettus USRP B210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other SDRs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8732520" y="511149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9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v1.1.7 — released July 18, 2026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549640" y="56875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 •  macOS  •  Linux (incl. Raspberry Pi 5 field box)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1710F40-DB33-1CC8-1E62-36C2432195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628" r="22548"/>
          <a:stretch/>
        </p:blipFill>
        <p:spPr>
          <a:xfrm>
            <a:off x="8593329" y="1618376"/>
            <a:ext cx="2966717" cy="1444864"/>
          </a:xfrm>
          <a:prstGeom prst="rect">
            <a:avLst/>
          </a:prstGeom>
        </p:spPr>
      </p:pic>
      <p:sp>
        <p:nvSpPr>
          <p:cNvPr id="25" name="Slide Number Placeholder 25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8E22918F-97EC-4791-BD0B-F90039D36CC5}" type="slidenum">
              <a:rPr lang="en-US" sz="850" dirty="0">
                <a:solidFill>
                  <a:srgbClr val="6B7A82"/>
                </a:solidFill>
                <a:latin typeface="Calibri"/>
              </a:rPr>
              <a:t>6</a:t>
            </a:fld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— JULY 11,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non-experts in front of the dish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11055096" cy="1371600"/>
          </a:xfrm>
          <a:prstGeom prst="roundRect">
            <a:avLst>
              <a:gd name="adj" fmla="val 5333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86968" y="1481328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question:  </a:t>
            </a:r>
            <a:r>
              <a:rPr lang="en-US" sz="2400" i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members who are not pulsar-processing experts plan an observation, capture pulsar data, and process it into professional-quality reports?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66928" y="3246120"/>
            <a:ext cx="3557016" cy="1417320"/>
          </a:xfrm>
          <a:prstGeom prst="roundRect">
            <a:avLst>
              <a:gd name="adj" fmla="val 5161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685800" cy="685800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64208" y="359359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Uberecken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664208" y="395935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AA0L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15968" y="3246120"/>
            <a:ext cx="3557016" cy="1417320"/>
          </a:xfrm>
          <a:prstGeom prst="roundRect">
            <a:avLst>
              <a:gd name="adj" fmla="val 5161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0" y="3611880"/>
            <a:ext cx="685800" cy="685800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13248" y="359359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Haney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413248" y="395935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W0ZDW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65008" y="3246120"/>
            <a:ext cx="3557016" cy="1417320"/>
          </a:xfrm>
          <a:prstGeom prst="roundRect">
            <a:avLst>
              <a:gd name="adj" fmla="val 5161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21040" y="3611880"/>
            <a:ext cx="685800" cy="685800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62288" y="359359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Hambly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9162288" y="395935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K0GD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937760"/>
            <a:ext cx="355701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95528" y="5102352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60-ft dish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795528" y="5468112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DSES site, Haswell, Colorado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315968" y="4937760"/>
            <a:ext cx="355701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44568" y="5102352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Ettus USRP B210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4544568" y="5468112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radio receiver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065008" y="4937760"/>
            <a:ext cx="355701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293608" y="5102352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Spectrum Analyzer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8293608" y="5468112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laptop — planning, RF checks, recording</a:t>
            </a:r>
            <a:endParaRPr lang="en-US" sz="1150" dirty="0"/>
          </a:p>
        </p:txBody>
      </p:sp>
      <p:sp>
        <p:nvSpPr>
          <p:cNvPr id="30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A1078162-12D1-486C-B275-7DA9A06905FA}" type="slidenum">
              <a:rPr lang="en-US" sz="850" dirty="0">
                <a:solidFill>
                  <a:srgbClr val="6B7A82"/>
                </a:solidFill>
                <a:latin typeface="Calibri"/>
              </a:rPr>
              <a:t>7</a:t>
            </a:fld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pulsars recorded live to filterbank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6928" y="1517904"/>
            <a:ext cx="2670048" cy="1481328"/>
          </a:xfrm>
          <a:prstGeom prst="roundRect">
            <a:avLst>
              <a:gd name="adj" fmla="val 4938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4088" y="162763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6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MHz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04088" y="238658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bandwidth, centered on 420 MHz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64992" y="1517904"/>
            <a:ext cx="2670048" cy="1481328"/>
          </a:xfrm>
          <a:prstGeom prst="roundRect">
            <a:avLst>
              <a:gd name="adj" fmla="val 4938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02152" y="162763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502152" y="238658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channels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63056" y="1517904"/>
            <a:ext cx="2670048" cy="1481328"/>
          </a:xfrm>
          <a:prstGeom prst="roundRect">
            <a:avLst>
              <a:gd name="adj" fmla="val 4938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00216" y="162763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204.8 µs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300216" y="238658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resolution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961120" y="1517904"/>
            <a:ext cx="2670048" cy="1481328"/>
          </a:xfrm>
          <a:prstGeom prst="roundRect">
            <a:avLst>
              <a:gd name="adj" fmla="val 4938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98280" y="162763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32-bit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9098280" y="238658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— SIGPROC .fil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11055096" cy="177393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94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(MDT)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volume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A2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B0329+54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 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Brightest northern pulsar — the standard reference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A2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B0950+08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 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Bright, low-dispersion; transiting at ~59° altitude during the session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566928" y="5669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were chosen live — the software computed current altitude/azimuth for the catalog pulsars from the Haswell site. Most southern sources never rise there, which made the transiting B0950+08 the natural second pick.</a:t>
            </a:r>
            <a:endParaRPr lang="en-US" sz="1600" dirty="0"/>
          </a:p>
        </p:txBody>
      </p:sp>
      <p:sp>
        <p:nvSpPr>
          <p:cNvPr id="21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C8F48EB4-ED29-4720-B413-AD296126C228}" type="slidenum">
              <a:rPr lang="en-US" sz="850" dirty="0">
                <a:solidFill>
                  <a:srgbClr val="6B7A82"/>
                </a:solidFill>
                <a:latin typeface="Calibri"/>
              </a:rPr>
              <a:t>8</a:t>
            </a:fld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B0329+54 — a textbook detection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568696" y="1572768"/>
            <a:ext cx="6163056" cy="4376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76200" dist="25400" dir="5400000" algn="bl" rotWithShape="0">
              <a:srgbClr val="9AAC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C:\Users\rick\Documents\DSES\Science\Spectrum_Analyzer_PY\reports\sara-2026\figures\B0329+54_prepfold_gapbridg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627632"/>
            <a:ext cx="6053328" cy="42671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3560" y="5989320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Gap-bridged, RFI-cleaned ephemeris fold — the full 36.6-minute integration (2026-07-17 re-analysis)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66928" y="16916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28.0 σ</a:t>
            </a:r>
            <a:endParaRPr lang="en-US" sz="6000" dirty="0"/>
          </a:p>
        </p:txBody>
      </p:sp>
      <p:sp>
        <p:nvSpPr>
          <p:cNvPr id="11" name="Text 7"/>
          <p:cNvSpPr/>
          <p:nvPr/>
        </p:nvSpPr>
        <p:spPr>
          <a:xfrm>
            <a:off x="566928" y="2697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the signal is noise: &lt; 8×10⁻¹⁷³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66928" y="3246120"/>
            <a:ext cx="4663440" cy="308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single-peaked profile at the catalog period of 714.5 ms, coherent across the full 36.6 minutes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peaks at dispersion measure ≈ 25 — catalog value 26.8 — and falls off toward zero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field it stood at ~20 σ; RFI cleanup and one timebase repair recovered the rest — that story is the next slide</a:t>
            </a:r>
            <a:endParaRPr lang="en-US" sz="2000" dirty="0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251994EA-03D3-4FD5-8B48-B20D63795AC1}" type="slidenum">
              <a:rPr lang="en-US" sz="850" dirty="0">
                <a:solidFill>
                  <a:srgbClr val="6B7A82"/>
                </a:solidFill>
                <a:latin typeface="Calibri"/>
              </a:rPr>
              <a:t>9</a:t>
            </a:fld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review comment was worth 5.6 σ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6928" y="18288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6384" y="2084832"/>
            <a:ext cx="475488" cy="47548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7432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" y="3154680"/>
            <a:ext cx="2231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Layne (AD0CY), reviewing the trip report: the fold shows a phase drift it shouldn’t have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64992" y="18288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84448" y="2084832"/>
            <a:ext cx="475488" cy="47548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84448" y="27432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forensics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584448" y="3154680"/>
            <a:ext cx="2231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rigid no-search ephemeris fold: smooth 1.2-rotation drift plus one +0.22-rotation step — parts in 10⁴, five orders beyond any physics. Our clock, not the sky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63056" y="18288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82512" y="2084832"/>
            <a:ext cx="475488" cy="47548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82512" y="27432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culprit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82512" y="3154680"/>
            <a:ext cx="2231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sample drops during recording silently shorten the .fil’s sample-count clock — the app showed overflows live but didn’t count or log them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961120" y="18288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180576" y="2084832"/>
            <a:ext cx="475488" cy="475488"/>
          </a:xfrm>
          <a:prstGeom prst="ellipse">
            <a:avLst/>
          </a:prstGeom>
          <a:solidFill>
            <a:srgbClr val="B86A18"/>
          </a:solidFill>
          <a:ln>
            <a:solidFill>
              <a:srgbClr val="B86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180576" y="27432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repair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180576" y="3154680"/>
            <a:ext cx="2231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0.558 s of noise padded at the step: 22.4 σ → 28.0 σ, single textbook profile, DM back at 25.3 — diagnosis confirmed by repair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66928" y="5257800"/>
            <a:ext cx="11055096" cy="91440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86968" y="5257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criticism.  </a:t>
            </a:r>
            <a:r>
              <a:rPr lang="en-US" sz="2000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logging and automatic gap-padding are now queued on the roadmap — future recordings keep an honest clock.</a:t>
            </a:r>
            <a:endParaRPr lang="en-US" sz="2000" dirty="0"/>
          </a:p>
        </p:txBody>
      </p:sp>
      <p:sp>
        <p:nvSpPr>
          <p:cNvPr id="25" name="Slide Number Placeholder 25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E2B9DDDE-79CF-4241-9624-E2211BEBF904}" type="slidenum">
              <a:rPr lang="en-US" sz="850" dirty="0">
                <a:solidFill>
                  <a:srgbClr val="6B7A82"/>
                </a:solidFill>
                <a:latin typeface="Calibri"/>
              </a:rPr>
              <a:t>10</a:t>
            </a:fld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B0950+08 — a strong candidate, honestly framed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568696" y="1572768"/>
            <a:ext cx="6163056" cy="4388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76200" dist="25400" dir="5400000" algn="bl" rotWithShape="0">
              <a:srgbClr val="9AAC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C:\Users\rick\Documents\DSES\Science\Spectrum_Analyzer_PY\reports\haswell-2026-07\figures\B0950+08_prepf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627632"/>
            <a:ext cx="6053328" cy="42783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3560" y="5989320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at the known 253 ms period — 22.2-minute observation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66928" y="16916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 σ</a:t>
            </a:r>
            <a:endParaRPr lang="en-US" sz="6000" dirty="0"/>
          </a:p>
        </p:txBody>
      </p:sp>
      <p:sp>
        <p:nvSpPr>
          <p:cNvPr id="11" name="Text 7"/>
          <p:cNvSpPr/>
          <p:nvPr/>
        </p:nvSpPr>
        <p:spPr>
          <a:xfrm>
            <a:off x="566928" y="2697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cleanup, the best fit lands on the catalog values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66928" y="324612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peak at the pulsar’s 253 ms period when folded at the known ephemeris (~9.7 σ as recorded)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RFI masked and the timebase repaired, the search converges on P = 253.05 ms and DM ≈ 2.9 — the catalog values — exactly how a real detection behaves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noise-limited: at 20 MHz bandwidth DM 2.97 is indistinguishable from zero, and ~9 σ leaves no room for decisive sub-tests — a strong candidate, not yet a publishable detection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gains are observational: a 90-minute track (≈20 σ), several sessions to catch scintillation maxima, wider bandwidth</a:t>
            </a:r>
            <a:endParaRPr lang="en-US" sz="1400" dirty="0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07BE9F51-F659-475D-A05E-196EAEBF0E08}" type="slidenum">
              <a:rPr lang="en-US" sz="850" dirty="0">
                <a:solidFill>
                  <a:srgbClr val="6B7A82"/>
                </a:solidFill>
                <a:latin typeface="Calibri"/>
              </a:rPr>
              <a:t>11</a:t>
            </a:fld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— and independently reproducible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6928" y="155448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Dispersion: the celestial fingerprint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22860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Interstellar plasma delays lower frequencies — a sweep imposed by light-years of travel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strength peaks at the catalog dispersion measure and falls toward zero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Terrestrial interference shows no dispersion at all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curve separates a genuine pulsar from RFI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platforms, two toolchains, one answer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92240" y="22860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— PRESTO v5.0.2, re-run on v6.0.0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— PRESTO v6.0.0 under WSL (a new DSES capability)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fold commands, independently built stacks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492240" y="397764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20840" y="40690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B0329+54 probability-of-noise
</a:t>
            </a:r>
            <a:r>
              <a:rPr lang="en-US" sz="24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4.49×10⁻⁹⁰</a:t>
            </a: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Windows      </a:t>
            </a:r>
            <a:r>
              <a:rPr lang="en-US" sz="2400" b="1" dirty="0">
                <a:solidFill>
                  <a:srgbClr val="B8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4.5×10⁻⁹⁰</a:t>
            </a: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macOS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5806440"/>
            <a:ext cx="10972800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 now produces a standardized PDF diagnostic stored beside the recording — validation minutes after capture, on whichever machine is at hand.</a:t>
            </a:r>
            <a:endParaRPr lang="en-US" sz="2000" dirty="0"/>
          </a:p>
        </p:txBody>
      </p:sp>
      <p:sp>
        <p:nvSpPr>
          <p:cNvPr id="16" name="Slide Number Placeholder 16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9DFEBCD2-01C1-4724-BFCD-6F0870E15985}" type="slidenum">
              <a:rPr lang="en-US" sz="850" dirty="0">
                <a:solidFill>
                  <a:srgbClr val="6B7A82"/>
                </a:solidFill>
                <a:latin typeface="Calibri"/>
              </a:rPr>
              <a:t>12</a:t>
            </a:fld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of the headless Raspberry Pi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6928" y="1828800"/>
            <a:ext cx="2670048" cy="2834640"/>
          </a:xfrm>
          <a:prstGeom prst="roundRect">
            <a:avLst>
              <a:gd name="adj" fmla="val 274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6384" y="2084832"/>
            <a:ext cx="475488" cy="47548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7432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86384" y="3154680"/>
            <a:ext cx="2231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menus dead, Help menu blank, window opens tiny in a corner — on the field box, mid-session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64992" y="1828800"/>
            <a:ext cx="2670048" cy="2834640"/>
          </a:xfrm>
          <a:prstGeom prst="roundRect">
            <a:avLst>
              <a:gd name="adj" fmla="val 274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84448" y="2084832"/>
            <a:ext cx="475488" cy="47548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84448" y="27432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584448" y="3154680"/>
            <a:ext cx="2231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SSH into the site over Tailscale — while the trip continued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63056" y="1828800"/>
            <a:ext cx="2670048" cy="2834640"/>
          </a:xfrm>
          <a:prstGeom prst="roundRect">
            <a:avLst>
              <a:gd name="adj" fmla="val 274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82512" y="2084832"/>
            <a:ext cx="475488" cy="47548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82512" y="27432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382512" y="3154680"/>
            <a:ext cx="2231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 attached: the graphics system reports a 0×0-pixel screen, collapsing every popup and confusing window placement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961120" y="1828800"/>
            <a:ext cx="2670048" cy="2834640"/>
          </a:xfrm>
          <a:prstGeom prst="roundRect">
            <a:avLst>
              <a:gd name="adj" fmla="val 274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180576" y="2084832"/>
            <a:ext cx="475488" cy="475488"/>
          </a:xfrm>
          <a:prstGeom prst="ellipse">
            <a:avLst/>
          </a:prstGeom>
          <a:solidFill>
            <a:srgbClr val="B86A18"/>
          </a:solidFill>
          <a:ln>
            <a:solidFill>
              <a:srgbClr val="B86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180576" y="27432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— in v1.1.6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180576" y="3154680"/>
            <a:ext cx="2231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Launcher synthesizes a virtual monitor when none is connected; the app refuses to reposition windows against an empty screen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66928" y="5074920"/>
            <a:ext cx="11055096" cy="1005840"/>
          </a:xfrm>
          <a:prstGeom prst="roundRect">
            <a:avLst>
              <a:gd name="adj" fmla="val 7273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86968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application bug.  </a:t>
            </a:r>
            <a:r>
              <a:rPr lang="en-US" sz="2000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display-configuration condition that had silently affected every prior software version — found because real hardware was running at a real site.</a:t>
            </a:r>
            <a:endParaRPr lang="en-US" sz="2000" dirty="0"/>
          </a:p>
        </p:txBody>
      </p:sp>
      <p:sp>
        <p:nvSpPr>
          <p:cNvPr id="25" name="Slide Number Placeholder 25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F829D80C-5120-4B1B-95F4-809401D7E479}" type="slidenum">
              <a:rPr lang="en-US" sz="850" dirty="0">
                <a:solidFill>
                  <a:srgbClr val="6B7A82"/>
                </a:solidFill>
                <a:latin typeface="Calibri"/>
              </a:rPr>
              <a:t>13</a:t>
            </a:fld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wish-list → v1.1.6 in two days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Analyzer v1.1.6 — cut and published July 12, one day after the observing session: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66928" y="2011680"/>
            <a:ext cx="3557016" cy="2651760"/>
          </a:xfrm>
          <a:prstGeom prst="roundRect">
            <a:avLst>
              <a:gd name="adj" fmla="val 275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" y="2212848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Sweep mode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4672" y="2670048"/>
            <a:ext cx="30815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Stepped wide-spectrum scan for RFI surveys beyond the radio’s instantaneous bandwidth — retunes across a range (e.g. 100–1000 MHz) and stitches one wide trace, with cross-pass max-hold.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15968" y="2011680"/>
            <a:ext cx="3557016" cy="2651760"/>
          </a:xfrm>
          <a:prstGeom prst="roundRect">
            <a:avLst>
              <a:gd name="adj" fmla="val 275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53712" y="2212848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Recording, finished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553712" y="2670048"/>
            <a:ext cx="30815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name stamped into the filename and the .fil header — with RA/Dec derived from the pulsar designation. Red REC indicator, elapsed time, timed auto-stop. July 11’s files had to be renamed and patched by hand; never again.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65008" y="2011680"/>
            <a:ext cx="3557016" cy="2651760"/>
          </a:xfrm>
          <a:prstGeom prst="roundRect">
            <a:avLst>
              <a:gd name="adj" fmla="val 275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302752" y="2212848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Headless fixes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302752" y="2670048"/>
            <a:ext cx="30815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virtual-monitor launcher and empty-screen safeguards from the previous slide, plus updated documentation and operating guide.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66928" y="4937760"/>
            <a:ext cx="110550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41248" y="493776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Epilogue: </a:t>
            </a:r>
            <a:r>
              <a:rPr lang="en-US" sz="20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 after release, the field box caught a packaging defect desktop testing had missed — Windows line endings in the Unix launcher script. Rebuilt and republished within hours, with two independent build-pipeline safeguards added. Real installations in the field earn their keep.</a:t>
            </a:r>
            <a:endParaRPr lang="en-US" sz="2000" dirty="0"/>
          </a:p>
        </p:txBody>
      </p:sp>
      <p:sp>
        <p:nvSpPr>
          <p:cNvPr id="19" name="Slide Number Placeholder 19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25AAE0E2-DB59-414F-9852-A06193896751}" type="slidenum">
              <a:rPr lang="en-US" sz="850" dirty="0">
                <a:solidFill>
                  <a:srgbClr val="6B7A82"/>
                </a:solidFill>
                <a:latin typeface="Calibri"/>
              </a:rPr>
              <a:t>14</a:t>
            </a:fld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SHIPPED, AGAIN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v1.1.7 six days later — the display was hiding signals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6928" y="18288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6384" y="2084832"/>
            <a:ext cx="475488" cy="47548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7432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report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86384" y="3154680"/>
            <a:ext cx="2231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(AA0L): on the same hardware, other SDR software shows weak signals ours doesn’t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64992" y="18288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84448" y="2084832"/>
            <a:ext cx="475488" cy="47548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84448" y="27432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root cause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584448" y="3154680"/>
            <a:ext cx="2231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 FFT examined only the newest FFT-length of samples each screen tick — about 0.3% of the stream at 20 MS/s. The other 99.7% never reached the screen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63056" y="18288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82512" y="2084832"/>
            <a:ext cx="475488" cy="475488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82512" y="27432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382512" y="3154680"/>
            <a:ext cx="2231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Welch-average every sample between screen updates; true per-block peak/min hold detectors; an adaptive CPU budget so slower machines shed coverage gracefully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961120" y="18288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180576" y="2084832"/>
            <a:ext cx="475488" cy="475488"/>
          </a:xfrm>
          <a:prstGeom prst="ellipse">
            <a:avLst/>
          </a:prstGeom>
          <a:solidFill>
            <a:srgbClr val="B86A18"/>
          </a:solidFill>
          <a:ln>
            <a:solidFill>
              <a:srgbClr val="B86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180576" y="27432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180576" y="3154680"/>
            <a:ext cx="2231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razor-flat noise floor with sub-dB scatter — weak signals stand clear. Verified live on the B210; released July 18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66928" y="5257800"/>
            <a:ext cx="11055096" cy="91440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86968" y="5257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were never affected</a:t>
            </a:r>
            <a:r>
              <a:rPr lang="en-US" sz="2000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filterbank path always processed every sample; this was display-only. Two field reports, two releases, seven days.</a:t>
            </a:r>
            <a:endParaRPr lang="en-US" sz="2000" dirty="0"/>
          </a:p>
        </p:txBody>
      </p:sp>
      <p:sp>
        <p:nvSpPr>
          <p:cNvPr id="25" name="Slide Number Placeholder 25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3918EC9C-F6D4-40A6-B9F7-803C1782EAEA}" type="slidenum">
              <a:rPr lang="en-US" sz="850" dirty="0">
                <a:solidFill>
                  <a:srgbClr val="6B7A82"/>
                </a:solidFill>
                <a:latin typeface="Calibri"/>
              </a:rPr>
              <a:t>15</a:t>
            </a:fld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documented upgrade queue</a:t>
            </a:r>
            <a:endParaRPr lang="en-US" sz="2900" dirty="0"/>
          </a:p>
        </p:txBody>
      </p:sp>
      <p:pic>
        <p:nvPicPr>
          <p:cNvPr id="4" name="Image 0" descr="C:\Users\rick\Documents\DSES\Science\Spectrum_Analyzer_PY\reports\assets\DSES_Logo_Comp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384048"/>
            <a:ext cx="1097280" cy="406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Barrier to Radio Astronomy  •  DSES  •  SARA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6928" y="178308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8" name="Text 5"/>
          <p:cNvSpPr/>
          <p:nvPr/>
        </p:nvSpPr>
        <p:spPr>
          <a:xfrm>
            <a:off x="749808" y="18653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Pulsar visibility planner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9808" y="2130552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up now?” — pulsars above the horizon with az/el, flux, and time left; a pick fills the recording Source field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54296" y="178308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1" name="Text 8"/>
          <p:cNvSpPr/>
          <p:nvPr/>
        </p:nvSpPr>
        <p:spPr>
          <a:xfrm>
            <a:off x="4837176" y="18653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post-processing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837176" y="2130552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good?” — automatic RFI mask + catalog fold when a recording ends; sigma/DM results card and a plain verdict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2871216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4" name="Text 11"/>
          <p:cNvSpPr/>
          <p:nvPr/>
        </p:nvSpPr>
        <p:spPr>
          <a:xfrm>
            <a:off x="749808" y="29535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Quick-look during recording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49808" y="3218688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 fold on a snapshot of the data so far — without interrupting a multi-hour capture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54296" y="2871216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7" name="Text 14"/>
          <p:cNvSpPr/>
          <p:nvPr/>
        </p:nvSpPr>
        <p:spPr>
          <a:xfrm>
            <a:off x="4837176" y="29535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Timebase integrity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837176" y="3218688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and log overflows; automatic gap-padding keeps the .fil clock honest — the peer-review finding, fixed at the source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3959352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0" name="Text 17"/>
          <p:cNvSpPr/>
          <p:nvPr/>
        </p:nvSpPr>
        <p:spPr>
          <a:xfrm>
            <a:off x="749808" y="4041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fold PDFs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49808" y="4306824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commands, results table, and plain-language verdict inside every chart PDF — nothing to chase down later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654296" y="3959352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3" name="Text 20"/>
          <p:cNvSpPr/>
          <p:nvPr/>
        </p:nvSpPr>
        <p:spPr>
          <a:xfrm>
            <a:off x="4837176" y="4041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demodulators for RFI ID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837176" y="4306824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signal and listen — AM/NFM/WFM/SSB/CW; an AI mode-classifier to follow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66928" y="5047488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6" name="Text 23"/>
          <p:cNvSpPr/>
          <p:nvPr/>
        </p:nvSpPr>
        <p:spPr>
          <a:xfrm>
            <a:off x="749808" y="5129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System-1 steering integration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49808" y="5394960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pulsar in the app and the dish knows where to point — awaiting the steering team’s API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654296" y="5047488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9" name="Text 26"/>
          <p:cNvSpPr/>
          <p:nvPr/>
        </p:nvSpPr>
        <p:spPr>
          <a:xfrm>
            <a:off x="4837176" y="5129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ezRA drift-scan format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4837176" y="5394960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ezCol-compatible files for the open-source hydrogen-line drift-scan suite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778240" y="1783080"/>
            <a:ext cx="2834640" cy="1481328"/>
          </a:xfrm>
          <a:prstGeom prst="roundRect">
            <a:avLst>
              <a:gd name="adj" fmla="val 4938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915400" y="189280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33" name="Text 30"/>
          <p:cNvSpPr/>
          <p:nvPr/>
        </p:nvSpPr>
        <p:spPr>
          <a:xfrm>
            <a:off x="8915400" y="26517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specified and committed to the Society’s shared roadmap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778240" y="3520440"/>
            <a:ext cx="2834640" cy="1481328"/>
          </a:xfrm>
          <a:prstGeom prst="roundRect">
            <a:avLst>
              <a:gd name="adj" fmla="val 4938"/>
            </a:avLst>
          </a:prstGeom>
          <a:solidFill>
            <a:srgbClr val="EFF4F7"/>
          </a:solidFill>
          <a:ln w="9525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915400" y="36301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6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≈20 σ</a:t>
            </a:r>
            <a:endParaRPr lang="en-US" sz="3400" dirty="0"/>
          </a:p>
        </p:txBody>
      </p:sp>
      <p:sp>
        <p:nvSpPr>
          <p:cNvPr id="36" name="Text 33"/>
          <p:cNvSpPr/>
          <p:nvPr/>
        </p:nvSpPr>
        <p:spPr>
          <a:xfrm>
            <a:off x="8915400" y="4287520"/>
            <a:ext cx="2560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from a 90-minute B0950+08 re-observation once the timebase fix ships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778240" y="51663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site-computer upgrade to multi-core x86-64 — enabling PRESTO post-processing right at the dish.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66928" y="6096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the radio-astronomy interest group starts on this baseline — a roster of members is signed up.</a:t>
            </a:r>
            <a:endParaRPr lang="en-US" dirty="0"/>
          </a:p>
        </p:txBody>
      </p:sp>
      <p:sp>
        <p:nvSpPr>
          <p:cNvPr id="39" name="Slide Number Placeholder 39"/>
          <p:cNvSpPr>
            <a:spLocks noGrp="1"/>
          </p:cNvSpPr>
          <p:nvPr>
            <p:ph type="sldNum" sz="quarter" idx="4"/>
          </p:nvPr>
        </p:nvSpPr>
        <p:spPr>
          <a:xfrm>
            <a:off x="11477880" y="6473952"/>
            <a:ext cx="457200" cy="2286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87F59D88-6D56-4DAF-97E6-F5488F2333B3}" type="slidenum">
              <a:rPr lang="en-US" sz="850" dirty="0">
                <a:solidFill>
                  <a:srgbClr val="6B7A82"/>
                </a:solidFill>
                <a:latin typeface="Calibri"/>
              </a:rPr>
              <a:t>16</a:t>
            </a:fld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5532120"/>
            <a:ext cx="1554480" cy="1554480"/>
          </a:xfrm>
          <a:prstGeom prst="ellipse">
            <a:avLst/>
          </a:prstGeom>
          <a:solidFill>
            <a:srgbClr val="0A2F40">
              <a:alpha val="0"/>
            </a:srgbClr>
          </a:solidFill>
          <a:ln w="12700">
            <a:solidFill>
              <a:srgbClr val="2E5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12680" y="4800600"/>
            <a:ext cx="3017520" cy="3017520"/>
          </a:xfrm>
          <a:prstGeom prst="ellipse">
            <a:avLst/>
          </a:prstGeom>
          <a:solidFill>
            <a:srgbClr val="0A2F40">
              <a:alpha val="0"/>
            </a:srgbClr>
          </a:solidFill>
          <a:ln w="12700">
            <a:solidFill>
              <a:srgbClr val="2E5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81160" y="4069080"/>
            <a:ext cx="4480560" cy="4480560"/>
          </a:xfrm>
          <a:prstGeom prst="ellipse">
            <a:avLst/>
          </a:prstGeom>
          <a:solidFill>
            <a:srgbClr val="0A2F40">
              <a:alpha val="0"/>
            </a:srgbClr>
          </a:solidFill>
          <a:ln w="12700">
            <a:solidFill>
              <a:srgbClr val="2E5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49640" y="3337560"/>
            <a:ext cx="5943600" cy="5943600"/>
          </a:xfrm>
          <a:prstGeom prst="ellipse">
            <a:avLst/>
          </a:prstGeom>
          <a:solidFill>
            <a:srgbClr val="0A2F40">
              <a:alpha val="0"/>
            </a:srgbClr>
          </a:solidFill>
          <a:ln w="12700">
            <a:solidFill>
              <a:srgbClr val="2E5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18120" y="2606040"/>
            <a:ext cx="7406640" cy="7406640"/>
          </a:xfrm>
          <a:prstGeom prst="ellipse">
            <a:avLst/>
          </a:prstGeom>
          <a:solidFill>
            <a:srgbClr val="0A2F40">
              <a:alpha val="0"/>
            </a:srgbClr>
          </a:solidFill>
          <a:ln w="12700">
            <a:solidFill>
              <a:srgbClr val="2E5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9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PROVED AT HASWELL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1289304"/>
            <a:ext cx="457200" cy="457200"/>
          </a:xfrm>
          <a:prstGeom prst="ellipse">
            <a:avLst/>
          </a:prstGeom>
          <a:solidFill>
            <a:srgbClr val="B86A18"/>
          </a:solidFill>
          <a:ln>
            <a:solidFill>
              <a:srgbClr val="B86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124712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Non-experts detected B0329+54 at 28 σ — plus a strong second candidate — with software the Society wrote, controls, and can teach.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2368296"/>
            <a:ext cx="457200" cy="457200"/>
          </a:xfrm>
          <a:prstGeom prst="ellipse">
            <a:avLst/>
          </a:prstGeom>
          <a:solidFill>
            <a:srgbClr val="B86A18"/>
          </a:solidFill>
          <a:ln>
            <a:solidFill>
              <a:srgbClr val="B86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203704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data path — antenna → SDR → filterbank → PRESTO — is validated end to end, reproduced across platforms, and hardened by peer review.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3232" y="3447288"/>
            <a:ext cx="457200" cy="457200"/>
          </a:xfrm>
          <a:prstGeom prst="ellipse">
            <a:avLst/>
          </a:prstGeom>
          <a:solidFill>
            <a:srgbClr val="B86A18"/>
          </a:solidFill>
          <a:ln>
            <a:solidFill>
              <a:srgbClr val="B86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282696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barrier is now a slope: two releases shipped from field feedback in a week, and the upgrade queue is written down.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13232" y="4617720"/>
            <a:ext cx="9601200" cy="0"/>
          </a:xfrm>
          <a:prstGeom prst="line">
            <a:avLst/>
          </a:prstGeom>
          <a:noFill/>
          <a:ln w="12700">
            <a:solidFill>
              <a:srgbClr val="2E5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480060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on the work of Dr. Richard Russel (AC0UB) and Dan Layne (AD0CY) — whose review of the report made the headline number stronger.
Field team: Ray Uberecken (AA0L), Anne Haney (W0ZDW), Richard Hambly (K0GD).
Development, field diagnosis, and data processing accelerated by AI-assisted engineering (Claude Code).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M. Hambly (K0GD)</a:t>
            </a:r>
            <a:r>
              <a:rPr lang="en-US" sz="1400" dirty="0">
                <a:solidFill>
                  <a:srgbClr val="D99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rick@cnssys.com   •   https://dses.science</a:t>
            </a:r>
            <a:endParaRPr lang="en-US" sz="1400" dirty="0"/>
          </a:p>
        </p:txBody>
      </p:sp>
      <p:pic>
        <p:nvPicPr>
          <p:cNvPr id="17" name="Image 0" descr="C:\Users\rick\Documents\DSES\Science\Spectrum_Analyzer_PY\reports\assets\DSES_Logo_Compact_Reversed_WhiteOn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5742432"/>
            <a:ext cx="2103120" cy="8631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3676</Words>
  <Application>Microsoft Office PowerPoint</Application>
  <PresentationFormat>Widescreen</PresentationFormat>
  <Paragraphs>294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Deep Space Exploration Society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Lowering the Barrier to Radio Astronomy</dc:title>
  <dc:subject>PptxGenJS Presentation</dc:subject>
  <dc:creator>Richard M. Hambly (K0GD)</dc:creator>
  <cp:lastModifiedBy>Richard Hambly</cp:lastModifiedBy>
  <cp:revision>11</cp:revision>
  <dcterms:created xsi:type="dcterms:W3CDTF">2026-07-19T02:09:28Z</dcterms:created>
  <dcterms:modified xsi:type="dcterms:W3CDTF">2026-07-19T17:45:52Z</dcterms:modified>
</cp:coreProperties>
</file>